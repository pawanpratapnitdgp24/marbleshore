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15"/>
  </p:notesMasterIdLst>
  <p:sldIdLst>
    <p:sldId id="2147478924" r:id="rId5"/>
    <p:sldId id="2147478923" r:id="rId6"/>
    <p:sldId id="2147478930" r:id="rId7"/>
    <p:sldId id="2147478931" r:id="rId8"/>
    <p:sldId id="2147478927" r:id="rId9"/>
    <p:sldId id="2147478928" r:id="rId10"/>
    <p:sldId id="2147478929" r:id="rId11"/>
    <p:sldId id="2147478932" r:id="rId12"/>
    <p:sldId id="2147478933" r:id="rId13"/>
    <p:sldId id="2147478934" r:id="rId14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B67B5CA-28C5-4EFE-A7D7-89C2540B3F81}">
          <p14:sldIdLst>
            <p14:sldId id="2147478924"/>
            <p14:sldId id="2147478923"/>
            <p14:sldId id="2147478930"/>
            <p14:sldId id="2147478931"/>
          </p14:sldIdLst>
        </p14:section>
        <p14:section name="Appendix" id="{82DC5A52-3941-4370-8C99-D80CEB8D920F}">
          <p14:sldIdLst>
            <p14:sldId id="2147478927"/>
            <p14:sldId id="2147478928"/>
            <p14:sldId id="2147478929"/>
            <p14:sldId id="2147478932"/>
            <p14:sldId id="2147478933"/>
            <p14:sldId id="214747893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003D73-154D-01EC-EA71-3234A2DE2477}" name="Thimiri Chandran, Murali" initials="TCM" userId="S::mthimirichandran@deloitte.com::c4acf2e3-cccc-4f1c-beff-7651b934bda9" providerId="AD"/>
  <p188:author id="{8F4C0F92-F632-1601-D0A6-F6AD57616566}" name="Schwarzenholzer, Lauren" initials="SL" userId="S::lauren.schwarzenholzer@aig.com::47c65a5b-9d52-41cd-aca8-575eecd454c6" providerId="AD"/>
  <p188:author id="{691E9CB1-9F88-08BC-19C9-2ED448202B45}" name="Rollner, Corey" initials="RC" userId="S::corey.rollner@aig.com::e850012f-7fb7-40db-98c6-15a6447239c4" providerId="AD"/>
  <p188:author id="{A3B563B5-5619-275E-CA95-D19F07A41250}" name="Ang, Grace" initials="AG" userId="S::grace.ang@aig.com::81aef8c4-3e9a-4969-b5bf-eafa0ea1e59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sce, Matthew" initials="PM" lastIdx="4" clrIdx="0">
    <p:extLst>
      <p:ext uri="{19B8F6BF-5375-455C-9EA6-DF929625EA0E}">
        <p15:presenceInfo xmlns:p15="http://schemas.microsoft.com/office/powerpoint/2012/main" userId="S::mapesce@deloitte.com::0cb29bdf-e978-477a-831c-bf64d4e191a3" providerId="AD"/>
      </p:ext>
    </p:extLst>
  </p:cmAuthor>
  <p:cmAuthor id="2" name="LeVahn, Erik Ea" initials="LEE" lastIdx="6" clrIdx="1">
    <p:extLst>
      <p:ext uri="{19B8F6BF-5375-455C-9EA6-DF929625EA0E}">
        <p15:presenceInfo xmlns:p15="http://schemas.microsoft.com/office/powerpoint/2012/main" userId="S::elevahn@deloitte.com::00a13dab-9559-412a-ab88-b7799d9906fd" providerId="AD"/>
      </p:ext>
    </p:extLst>
  </p:cmAuthor>
  <p:cmAuthor id="3" name="Lin, Annie Y" initials="LY" lastIdx="3" clrIdx="2">
    <p:extLst>
      <p:ext uri="{19B8F6BF-5375-455C-9EA6-DF929625EA0E}">
        <p15:presenceInfo xmlns:p15="http://schemas.microsoft.com/office/powerpoint/2012/main" userId="S::annieylin@deloitte.com::44e295c1-64f2-43d0-9d38-cb1800cab6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3EA6"/>
    <a:srgbClr val="9CB8F7"/>
    <a:srgbClr val="E9EFF7"/>
    <a:srgbClr val="FFDB69"/>
    <a:srgbClr val="B6DD93"/>
    <a:srgbClr val="FFFFFF"/>
    <a:srgbClr val="FFE9A3"/>
    <a:srgbClr val="001871"/>
    <a:srgbClr val="CCECFF"/>
    <a:srgbClr val="00BF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78" autoAdjust="0"/>
    <p:restoredTop sz="94660"/>
  </p:normalViewPr>
  <p:slideViewPr>
    <p:cSldViewPr snapToGrid="0">
      <p:cViewPr>
        <p:scale>
          <a:sx n="76" d="100"/>
          <a:sy n="76" d="100"/>
        </p:scale>
        <p:origin x="44" y="-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4481BA-96C0-4371-B637-85B40EF4B42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EAF807-E7D4-4757-88A9-80D796F87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13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BC97BF-1DD8-4698-862F-10668A8E00D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1932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AF807-E7D4-4757-88A9-80D796F870F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62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3B0B1-84BF-3CF5-A3B0-7FA5369A5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3A8EB3-F7CF-4244-E450-87107B29A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DDCBCE-E616-867B-A46D-F955F365B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728CC-81F4-57FE-C5E0-7CE86A71F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AF807-E7D4-4757-88A9-80D796F870F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002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70AFB-9884-DF32-C94B-BC207C5C1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A050D-300E-735F-D50A-40F54A3F42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F56CC7-98E4-D04F-F136-E14309D01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9E6C2-80A2-656E-84C9-D432248D42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AF807-E7D4-4757-88A9-80D796F870F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191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CECC9-97B2-7051-C9C4-A25FE4690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9D3C37-44D4-262F-1D15-4F6B5317C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D0771-E70E-BD65-DAFF-AC87D55D7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E31EA-6468-6E0D-367A-30F35E98C1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AF807-E7D4-4757-88A9-80D796F870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85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4C76B-7F84-9793-C126-FE5DFFED8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EDE292-0FA0-8056-670B-DD5415917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E7D6F4-2D4D-2FBD-7E26-14F473473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05F85-31B9-9014-50EA-532BAB67FF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AF807-E7D4-4757-88A9-80D796F870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2962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A03D5-6E21-8FF2-700B-7A3EDBF3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28052-422B-EE07-5C9B-E44842D16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75E8A7-18A1-FD76-895C-A05F22EFB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D7DED-F222-37DE-F4A4-DB831733EF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AF807-E7D4-4757-88A9-80D796F870F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73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56269-3454-D146-A36A-3A5E1BC15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CB1BA7-9F47-C47A-9E1B-C635DEF5F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4D78C9-E154-B4E3-1361-9E87A2C9F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A435B-696E-127A-0A5D-2E84B2538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AF807-E7D4-4757-88A9-80D796F870F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21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4C6B9-EBDB-895F-968A-E3DCD08A0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8FC29-747E-75EA-DBFB-07164D10F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0B7169-4E12-A68C-321D-88B0724D1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64EDD-43A3-5A50-A4FF-A029D7D6A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AF807-E7D4-4757-88A9-80D796F870F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824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165D1-4F71-3D53-FABB-3A032F12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35285-D28B-1646-7084-E2D5E051C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C65227-84AE-03C8-53FE-2FF6FC988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2E2EC-2BE4-2152-37F8-5D945A050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AF807-E7D4-4757-88A9-80D796F870F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66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with pic 1 speaker long pre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752344"/>
          </a:xfrm>
        </p:spPr>
        <p:txBody>
          <a:bodyPr/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Click to upload a cover slide photo. Visit the Brand Central Image Library for options: https://www.brandcentral.aig/content/index/guid/stock_imagery </a:t>
            </a:r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199" y="5996942"/>
            <a:ext cx="11277601" cy="438759"/>
          </a:xfrm>
        </p:spPr>
        <p:txBody>
          <a:bodyPr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750" kern="1200" baseline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tx1">
                    <a:lumMod val="75000"/>
                  </a:schemeClr>
                </a:solidFill>
              </a:rPr>
              <a:t>HIGHLY CONFIDENTIAL – DO NOT COPY</a:t>
            </a:r>
          </a:p>
        </p:txBody>
      </p:sp>
      <p:sp>
        <p:nvSpPr>
          <p:cNvPr id="28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29775" y="3948477"/>
            <a:ext cx="2372747" cy="804672"/>
          </a:xfrm>
        </p:spPr>
        <p:txBody>
          <a:bodyPr anchor="b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lang="en-US" sz="900" kern="12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7288529" y="3966765"/>
            <a:ext cx="722376" cy="78638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6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736428"/>
            <a:ext cx="6629400" cy="101672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000"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4886496"/>
            <a:ext cx="6629400" cy="469516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i="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subtitle style</a:t>
            </a:r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454818" y="3261416"/>
            <a:ext cx="1017365" cy="520285"/>
            <a:chOff x="2259013" y="4716463"/>
            <a:chExt cx="1322387" cy="676275"/>
          </a:xfrm>
        </p:grpSpPr>
        <p:sp>
          <p:nvSpPr>
            <p:cNvPr id="20" name="Freeform 21"/>
            <p:cNvSpPr>
              <a:spLocks noEditPoints="1"/>
            </p:cNvSpPr>
            <p:nvPr userDrawn="1"/>
          </p:nvSpPr>
          <p:spPr bwMode="auto">
            <a:xfrm>
              <a:off x="2395538" y="4865688"/>
              <a:ext cx="363537" cy="377825"/>
            </a:xfrm>
            <a:custGeom>
              <a:avLst/>
              <a:gdLst>
                <a:gd name="T0" fmla="*/ 109 w 229"/>
                <a:gd name="T1" fmla="*/ 0 h 238"/>
                <a:gd name="T2" fmla="*/ 0 w 229"/>
                <a:gd name="T3" fmla="*/ 238 h 238"/>
                <a:gd name="T4" fmla="*/ 39 w 229"/>
                <a:gd name="T5" fmla="*/ 238 h 238"/>
                <a:gd name="T6" fmla="*/ 65 w 229"/>
                <a:gd name="T7" fmla="*/ 179 h 238"/>
                <a:gd name="T8" fmla="*/ 166 w 229"/>
                <a:gd name="T9" fmla="*/ 179 h 238"/>
                <a:gd name="T10" fmla="*/ 190 w 229"/>
                <a:gd name="T11" fmla="*/ 238 h 238"/>
                <a:gd name="T12" fmla="*/ 229 w 229"/>
                <a:gd name="T13" fmla="*/ 238 h 238"/>
                <a:gd name="T14" fmla="*/ 124 w 229"/>
                <a:gd name="T15" fmla="*/ 0 h 238"/>
                <a:gd name="T16" fmla="*/ 109 w 229"/>
                <a:gd name="T17" fmla="*/ 0 h 238"/>
                <a:gd name="T18" fmla="*/ 79 w 229"/>
                <a:gd name="T19" fmla="*/ 146 h 238"/>
                <a:gd name="T20" fmla="*/ 117 w 229"/>
                <a:gd name="T21" fmla="*/ 65 h 238"/>
                <a:gd name="T22" fmla="*/ 152 w 229"/>
                <a:gd name="T23" fmla="*/ 146 h 238"/>
                <a:gd name="T24" fmla="*/ 79 w 229"/>
                <a:gd name="T25" fmla="*/ 14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238">
                  <a:moveTo>
                    <a:pt x="109" y="0"/>
                  </a:moveTo>
                  <a:lnTo>
                    <a:pt x="0" y="238"/>
                  </a:lnTo>
                  <a:lnTo>
                    <a:pt x="39" y="238"/>
                  </a:lnTo>
                  <a:lnTo>
                    <a:pt x="65" y="179"/>
                  </a:lnTo>
                  <a:lnTo>
                    <a:pt x="166" y="179"/>
                  </a:lnTo>
                  <a:lnTo>
                    <a:pt x="190" y="238"/>
                  </a:lnTo>
                  <a:lnTo>
                    <a:pt x="229" y="238"/>
                  </a:lnTo>
                  <a:lnTo>
                    <a:pt x="124" y="0"/>
                  </a:lnTo>
                  <a:lnTo>
                    <a:pt x="109" y="0"/>
                  </a:lnTo>
                  <a:close/>
                  <a:moveTo>
                    <a:pt x="79" y="146"/>
                  </a:moveTo>
                  <a:lnTo>
                    <a:pt x="117" y="65"/>
                  </a:lnTo>
                  <a:lnTo>
                    <a:pt x="152" y="146"/>
                  </a:lnTo>
                  <a:lnTo>
                    <a:pt x="79" y="1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Rectangle 22"/>
            <p:cNvSpPr>
              <a:spLocks noChangeArrowheads="1"/>
            </p:cNvSpPr>
            <p:nvPr userDrawn="1"/>
          </p:nvSpPr>
          <p:spPr bwMode="auto">
            <a:xfrm>
              <a:off x="2820988" y="4865688"/>
              <a:ext cx="58737" cy="3778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"/>
            <p:cNvSpPr>
              <a:spLocks/>
            </p:cNvSpPr>
            <p:nvPr userDrawn="1"/>
          </p:nvSpPr>
          <p:spPr bwMode="auto">
            <a:xfrm>
              <a:off x="2962275" y="4859338"/>
              <a:ext cx="369887" cy="390525"/>
            </a:xfrm>
            <a:custGeom>
              <a:avLst/>
              <a:gdLst>
                <a:gd name="T0" fmla="*/ 329 w 570"/>
                <a:gd name="T1" fmla="*/ 371 h 603"/>
                <a:gd name="T2" fmla="*/ 473 w 570"/>
                <a:gd name="T3" fmla="*/ 371 h 603"/>
                <a:gd name="T4" fmla="*/ 416 w 570"/>
                <a:gd name="T5" fmla="*/ 476 h 603"/>
                <a:gd name="T6" fmla="*/ 301 w 570"/>
                <a:gd name="T7" fmla="*/ 519 h 603"/>
                <a:gd name="T8" fmla="*/ 159 w 570"/>
                <a:gd name="T9" fmla="*/ 462 h 603"/>
                <a:gd name="T10" fmla="*/ 89 w 570"/>
                <a:gd name="T11" fmla="*/ 302 h 603"/>
                <a:gd name="T12" fmla="*/ 152 w 570"/>
                <a:gd name="T13" fmla="*/ 146 h 603"/>
                <a:gd name="T14" fmla="*/ 305 w 570"/>
                <a:gd name="T15" fmla="*/ 82 h 603"/>
                <a:gd name="T16" fmla="*/ 481 w 570"/>
                <a:gd name="T17" fmla="*/ 177 h 603"/>
                <a:gd name="T18" fmla="*/ 543 w 570"/>
                <a:gd name="T19" fmla="*/ 117 h 603"/>
                <a:gd name="T20" fmla="*/ 433 w 570"/>
                <a:gd name="T21" fmla="*/ 29 h 603"/>
                <a:gd name="T22" fmla="*/ 305 w 570"/>
                <a:gd name="T23" fmla="*/ 0 h 603"/>
                <a:gd name="T24" fmla="*/ 89 w 570"/>
                <a:gd name="T25" fmla="*/ 89 h 603"/>
                <a:gd name="T26" fmla="*/ 0 w 570"/>
                <a:gd name="T27" fmla="*/ 304 h 603"/>
                <a:gd name="T28" fmla="*/ 87 w 570"/>
                <a:gd name="T29" fmla="*/ 514 h 603"/>
                <a:gd name="T30" fmla="*/ 296 w 570"/>
                <a:gd name="T31" fmla="*/ 603 h 603"/>
                <a:gd name="T32" fmla="*/ 502 w 570"/>
                <a:gd name="T33" fmla="*/ 512 h 603"/>
                <a:gd name="T34" fmla="*/ 553 w 570"/>
                <a:gd name="T35" fmla="*/ 424 h 603"/>
                <a:gd name="T36" fmla="*/ 570 w 570"/>
                <a:gd name="T37" fmla="*/ 309 h 603"/>
                <a:gd name="T38" fmla="*/ 570 w 570"/>
                <a:gd name="T39" fmla="*/ 290 h 603"/>
                <a:gd name="T40" fmla="*/ 329 w 570"/>
                <a:gd name="T41" fmla="*/ 290 h 603"/>
                <a:gd name="T42" fmla="*/ 329 w 570"/>
                <a:gd name="T43" fmla="*/ 371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0" h="603">
                  <a:moveTo>
                    <a:pt x="329" y="371"/>
                  </a:moveTo>
                  <a:cubicBezTo>
                    <a:pt x="329" y="371"/>
                    <a:pt x="329" y="371"/>
                    <a:pt x="473" y="371"/>
                  </a:cubicBezTo>
                  <a:cubicBezTo>
                    <a:pt x="469" y="412"/>
                    <a:pt x="449" y="447"/>
                    <a:pt x="416" y="476"/>
                  </a:cubicBezTo>
                  <a:cubicBezTo>
                    <a:pt x="382" y="505"/>
                    <a:pt x="344" y="519"/>
                    <a:pt x="301" y="519"/>
                  </a:cubicBezTo>
                  <a:cubicBezTo>
                    <a:pt x="248" y="519"/>
                    <a:pt x="202" y="500"/>
                    <a:pt x="159" y="462"/>
                  </a:cubicBezTo>
                  <a:cubicBezTo>
                    <a:pt x="111" y="421"/>
                    <a:pt x="89" y="366"/>
                    <a:pt x="89" y="302"/>
                  </a:cubicBezTo>
                  <a:cubicBezTo>
                    <a:pt x="89" y="239"/>
                    <a:pt x="108" y="187"/>
                    <a:pt x="152" y="146"/>
                  </a:cubicBezTo>
                  <a:cubicBezTo>
                    <a:pt x="192" y="103"/>
                    <a:pt x="245" y="82"/>
                    <a:pt x="305" y="82"/>
                  </a:cubicBezTo>
                  <a:cubicBezTo>
                    <a:pt x="375" y="82"/>
                    <a:pt x="433" y="115"/>
                    <a:pt x="481" y="177"/>
                  </a:cubicBezTo>
                  <a:cubicBezTo>
                    <a:pt x="481" y="177"/>
                    <a:pt x="481" y="177"/>
                    <a:pt x="543" y="117"/>
                  </a:cubicBezTo>
                  <a:cubicBezTo>
                    <a:pt x="507" y="77"/>
                    <a:pt x="469" y="46"/>
                    <a:pt x="433" y="29"/>
                  </a:cubicBezTo>
                  <a:cubicBezTo>
                    <a:pt x="392" y="10"/>
                    <a:pt x="351" y="0"/>
                    <a:pt x="305" y="0"/>
                  </a:cubicBezTo>
                  <a:cubicBezTo>
                    <a:pt x="219" y="0"/>
                    <a:pt x="147" y="29"/>
                    <a:pt x="89" y="89"/>
                  </a:cubicBezTo>
                  <a:cubicBezTo>
                    <a:pt x="29" y="148"/>
                    <a:pt x="0" y="218"/>
                    <a:pt x="0" y="304"/>
                  </a:cubicBezTo>
                  <a:cubicBezTo>
                    <a:pt x="0" y="385"/>
                    <a:pt x="29" y="457"/>
                    <a:pt x="87" y="514"/>
                  </a:cubicBezTo>
                  <a:cubicBezTo>
                    <a:pt x="144" y="574"/>
                    <a:pt x="214" y="603"/>
                    <a:pt x="296" y="603"/>
                  </a:cubicBezTo>
                  <a:cubicBezTo>
                    <a:pt x="380" y="603"/>
                    <a:pt x="449" y="572"/>
                    <a:pt x="502" y="512"/>
                  </a:cubicBezTo>
                  <a:cubicBezTo>
                    <a:pt x="526" y="486"/>
                    <a:pt x="543" y="455"/>
                    <a:pt x="553" y="424"/>
                  </a:cubicBezTo>
                  <a:cubicBezTo>
                    <a:pt x="565" y="390"/>
                    <a:pt x="570" y="352"/>
                    <a:pt x="570" y="309"/>
                  </a:cubicBezTo>
                  <a:cubicBezTo>
                    <a:pt x="570" y="309"/>
                    <a:pt x="570" y="309"/>
                    <a:pt x="570" y="290"/>
                  </a:cubicBezTo>
                  <a:cubicBezTo>
                    <a:pt x="570" y="290"/>
                    <a:pt x="570" y="290"/>
                    <a:pt x="329" y="290"/>
                  </a:cubicBezTo>
                  <a:lnTo>
                    <a:pt x="329" y="37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"/>
            <p:cNvSpPr>
              <a:spLocks noEditPoints="1"/>
            </p:cNvSpPr>
            <p:nvPr userDrawn="1"/>
          </p:nvSpPr>
          <p:spPr bwMode="auto">
            <a:xfrm>
              <a:off x="2259013" y="4716463"/>
              <a:ext cx="1239837" cy="676275"/>
            </a:xfrm>
            <a:custGeom>
              <a:avLst/>
              <a:gdLst>
                <a:gd name="T0" fmla="*/ 0 w 781"/>
                <a:gd name="T1" fmla="*/ 426 h 426"/>
                <a:gd name="T2" fmla="*/ 781 w 781"/>
                <a:gd name="T3" fmla="*/ 426 h 426"/>
                <a:gd name="T4" fmla="*/ 781 w 781"/>
                <a:gd name="T5" fmla="*/ 0 h 426"/>
                <a:gd name="T6" fmla="*/ 0 w 781"/>
                <a:gd name="T7" fmla="*/ 0 h 426"/>
                <a:gd name="T8" fmla="*/ 0 w 781"/>
                <a:gd name="T9" fmla="*/ 426 h 426"/>
                <a:gd name="T10" fmla="*/ 33 w 781"/>
                <a:gd name="T11" fmla="*/ 33 h 426"/>
                <a:gd name="T12" fmla="*/ 750 w 781"/>
                <a:gd name="T13" fmla="*/ 33 h 426"/>
                <a:gd name="T14" fmla="*/ 750 w 781"/>
                <a:gd name="T15" fmla="*/ 393 h 426"/>
                <a:gd name="T16" fmla="*/ 33 w 781"/>
                <a:gd name="T17" fmla="*/ 393 h 426"/>
                <a:gd name="T18" fmla="*/ 33 w 781"/>
                <a:gd name="T19" fmla="*/ 33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81" h="426">
                  <a:moveTo>
                    <a:pt x="0" y="426"/>
                  </a:moveTo>
                  <a:lnTo>
                    <a:pt x="781" y="426"/>
                  </a:lnTo>
                  <a:lnTo>
                    <a:pt x="781" y="0"/>
                  </a:lnTo>
                  <a:lnTo>
                    <a:pt x="0" y="0"/>
                  </a:lnTo>
                  <a:lnTo>
                    <a:pt x="0" y="426"/>
                  </a:lnTo>
                  <a:close/>
                  <a:moveTo>
                    <a:pt x="33" y="33"/>
                  </a:moveTo>
                  <a:lnTo>
                    <a:pt x="750" y="33"/>
                  </a:lnTo>
                  <a:lnTo>
                    <a:pt x="750" y="393"/>
                  </a:lnTo>
                  <a:lnTo>
                    <a:pt x="33" y="393"/>
                  </a:lnTo>
                  <a:lnTo>
                    <a:pt x="33" y="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5"/>
            <p:cNvSpPr>
              <a:spLocks noEditPoints="1"/>
            </p:cNvSpPr>
            <p:nvPr userDrawn="1"/>
          </p:nvSpPr>
          <p:spPr bwMode="auto">
            <a:xfrm>
              <a:off x="3543300" y="5349876"/>
              <a:ext cx="23812" cy="28575"/>
            </a:xfrm>
            <a:custGeom>
              <a:avLst/>
              <a:gdLst>
                <a:gd name="T0" fmla="*/ 27 w 37"/>
                <a:gd name="T1" fmla="*/ 23 h 44"/>
                <a:gd name="T2" fmla="*/ 27 w 37"/>
                <a:gd name="T3" fmla="*/ 22 h 44"/>
                <a:gd name="T4" fmla="*/ 35 w 37"/>
                <a:gd name="T5" fmla="*/ 13 h 44"/>
                <a:gd name="T6" fmla="*/ 31 w 37"/>
                <a:gd name="T7" fmla="*/ 3 h 44"/>
                <a:gd name="T8" fmla="*/ 16 w 37"/>
                <a:gd name="T9" fmla="*/ 0 h 44"/>
                <a:gd name="T10" fmla="*/ 0 w 37"/>
                <a:gd name="T11" fmla="*/ 1 h 44"/>
                <a:gd name="T12" fmla="*/ 0 w 37"/>
                <a:gd name="T13" fmla="*/ 44 h 44"/>
                <a:gd name="T14" fmla="*/ 10 w 37"/>
                <a:gd name="T15" fmla="*/ 44 h 44"/>
                <a:gd name="T16" fmla="*/ 10 w 37"/>
                <a:gd name="T17" fmla="*/ 27 h 44"/>
                <a:gd name="T18" fmla="*/ 15 w 37"/>
                <a:gd name="T19" fmla="*/ 27 h 44"/>
                <a:gd name="T20" fmla="*/ 23 w 37"/>
                <a:gd name="T21" fmla="*/ 33 h 44"/>
                <a:gd name="T22" fmla="*/ 27 w 37"/>
                <a:gd name="T23" fmla="*/ 44 h 44"/>
                <a:gd name="T24" fmla="*/ 37 w 37"/>
                <a:gd name="T25" fmla="*/ 44 h 44"/>
                <a:gd name="T26" fmla="*/ 34 w 37"/>
                <a:gd name="T27" fmla="*/ 33 h 44"/>
                <a:gd name="T28" fmla="*/ 27 w 37"/>
                <a:gd name="T29" fmla="*/ 23 h 44"/>
                <a:gd name="T30" fmla="*/ 15 w 37"/>
                <a:gd name="T31" fmla="*/ 20 h 44"/>
                <a:gd name="T32" fmla="*/ 10 w 37"/>
                <a:gd name="T33" fmla="*/ 20 h 44"/>
                <a:gd name="T34" fmla="*/ 10 w 37"/>
                <a:gd name="T35" fmla="*/ 8 h 44"/>
                <a:gd name="T36" fmla="*/ 16 w 37"/>
                <a:gd name="T37" fmla="*/ 7 h 44"/>
                <a:gd name="T38" fmla="*/ 25 w 37"/>
                <a:gd name="T39" fmla="*/ 14 h 44"/>
                <a:gd name="T40" fmla="*/ 15 w 37"/>
                <a:gd name="T41" fmla="*/ 2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7" h="44">
                  <a:moveTo>
                    <a:pt x="27" y="23"/>
                  </a:moveTo>
                  <a:cubicBezTo>
                    <a:pt x="27" y="22"/>
                    <a:pt x="27" y="22"/>
                    <a:pt x="27" y="22"/>
                  </a:cubicBezTo>
                  <a:cubicBezTo>
                    <a:pt x="32" y="21"/>
                    <a:pt x="35" y="17"/>
                    <a:pt x="35" y="13"/>
                  </a:cubicBezTo>
                  <a:cubicBezTo>
                    <a:pt x="35" y="8"/>
                    <a:pt x="34" y="5"/>
                    <a:pt x="31" y="3"/>
                  </a:cubicBezTo>
                  <a:cubicBezTo>
                    <a:pt x="28" y="1"/>
                    <a:pt x="24" y="0"/>
                    <a:pt x="16" y="0"/>
                  </a:cubicBezTo>
                  <a:cubicBezTo>
                    <a:pt x="9" y="0"/>
                    <a:pt x="4" y="1"/>
                    <a:pt x="0" y="1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20" y="27"/>
                    <a:pt x="23" y="29"/>
                    <a:pt x="23" y="33"/>
                  </a:cubicBezTo>
                  <a:cubicBezTo>
                    <a:pt x="25" y="38"/>
                    <a:pt x="26" y="42"/>
                    <a:pt x="27" y="44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36" y="42"/>
                    <a:pt x="36" y="40"/>
                    <a:pt x="34" y="33"/>
                  </a:cubicBezTo>
                  <a:cubicBezTo>
                    <a:pt x="33" y="28"/>
                    <a:pt x="31" y="24"/>
                    <a:pt x="27" y="23"/>
                  </a:cubicBezTo>
                  <a:close/>
                  <a:moveTo>
                    <a:pt x="15" y="20"/>
                  </a:moveTo>
                  <a:cubicBezTo>
                    <a:pt x="10" y="20"/>
                    <a:pt x="10" y="20"/>
                    <a:pt x="10" y="20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1" y="7"/>
                    <a:pt x="13" y="7"/>
                    <a:pt x="16" y="7"/>
                  </a:cubicBezTo>
                  <a:cubicBezTo>
                    <a:pt x="22" y="7"/>
                    <a:pt x="25" y="10"/>
                    <a:pt x="25" y="14"/>
                  </a:cubicBezTo>
                  <a:cubicBezTo>
                    <a:pt x="25" y="18"/>
                    <a:pt x="20" y="20"/>
                    <a:pt x="15" y="20"/>
                  </a:cubicBezTo>
                  <a:close/>
                </a:path>
              </a:pathLst>
            </a:custGeom>
            <a:solidFill>
              <a:srgbClr val="1DA3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6"/>
            <p:cNvSpPr>
              <a:spLocks noEditPoints="1"/>
            </p:cNvSpPr>
            <p:nvPr userDrawn="1"/>
          </p:nvSpPr>
          <p:spPr bwMode="auto">
            <a:xfrm>
              <a:off x="3525838" y="5335588"/>
              <a:ext cx="55562" cy="55563"/>
            </a:xfrm>
            <a:custGeom>
              <a:avLst/>
              <a:gdLst>
                <a:gd name="T0" fmla="*/ 44 w 87"/>
                <a:gd name="T1" fmla="*/ 0 h 85"/>
                <a:gd name="T2" fmla="*/ 0 w 87"/>
                <a:gd name="T3" fmla="*/ 43 h 85"/>
                <a:gd name="T4" fmla="*/ 44 w 87"/>
                <a:gd name="T5" fmla="*/ 85 h 85"/>
                <a:gd name="T6" fmla="*/ 87 w 87"/>
                <a:gd name="T7" fmla="*/ 43 h 85"/>
                <a:gd name="T8" fmla="*/ 44 w 87"/>
                <a:gd name="T9" fmla="*/ 0 h 85"/>
                <a:gd name="T10" fmla="*/ 44 w 87"/>
                <a:gd name="T11" fmla="*/ 76 h 85"/>
                <a:gd name="T12" fmla="*/ 11 w 87"/>
                <a:gd name="T13" fmla="*/ 43 h 85"/>
                <a:gd name="T14" fmla="*/ 44 w 87"/>
                <a:gd name="T15" fmla="*/ 9 h 85"/>
                <a:gd name="T16" fmla="*/ 76 w 87"/>
                <a:gd name="T17" fmla="*/ 43 h 85"/>
                <a:gd name="T18" fmla="*/ 44 w 87"/>
                <a:gd name="T19" fmla="*/ 76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7" h="85">
                  <a:moveTo>
                    <a:pt x="44" y="0"/>
                  </a:moveTo>
                  <a:cubicBezTo>
                    <a:pt x="19" y="0"/>
                    <a:pt x="0" y="19"/>
                    <a:pt x="0" y="43"/>
                  </a:cubicBezTo>
                  <a:cubicBezTo>
                    <a:pt x="0" y="67"/>
                    <a:pt x="19" y="85"/>
                    <a:pt x="44" y="85"/>
                  </a:cubicBezTo>
                  <a:cubicBezTo>
                    <a:pt x="68" y="85"/>
                    <a:pt x="87" y="67"/>
                    <a:pt x="87" y="43"/>
                  </a:cubicBezTo>
                  <a:cubicBezTo>
                    <a:pt x="87" y="19"/>
                    <a:pt x="68" y="0"/>
                    <a:pt x="44" y="0"/>
                  </a:cubicBezTo>
                  <a:close/>
                  <a:moveTo>
                    <a:pt x="44" y="76"/>
                  </a:moveTo>
                  <a:cubicBezTo>
                    <a:pt x="25" y="76"/>
                    <a:pt x="11" y="61"/>
                    <a:pt x="11" y="43"/>
                  </a:cubicBezTo>
                  <a:cubicBezTo>
                    <a:pt x="11" y="24"/>
                    <a:pt x="25" y="9"/>
                    <a:pt x="44" y="9"/>
                  </a:cubicBezTo>
                  <a:cubicBezTo>
                    <a:pt x="63" y="9"/>
                    <a:pt x="76" y="24"/>
                    <a:pt x="76" y="43"/>
                  </a:cubicBezTo>
                  <a:cubicBezTo>
                    <a:pt x="76" y="61"/>
                    <a:pt x="63" y="76"/>
                    <a:pt x="44" y="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" name="Footer Placeholder 6">
            <a:extLst>
              <a:ext uri="{FF2B5EF4-FFF2-40B4-BE49-F238E27FC236}">
                <a16:creationId xmlns:a16="http://schemas.microsoft.com/office/drawing/2014/main" id="{EBCD1DB7-E428-4E93-8E2E-A2F7FEB0385C}"/>
              </a:ext>
            </a:extLst>
          </p:cNvPr>
          <p:cNvSpPr txBox="1">
            <a:spLocks/>
          </p:cNvSpPr>
          <p:nvPr userDrawn="1"/>
        </p:nvSpPr>
        <p:spPr>
          <a:xfrm>
            <a:off x="8458200" y="6594193"/>
            <a:ext cx="2740377" cy="12311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8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9258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14">
          <p15:clr>
            <a:srgbClr val="FBAE40"/>
          </p15:clr>
        </p15:guide>
        <p15:guide id="2" orient="horz" pos="35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head &amp; Breadcrum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65101"/>
            <a:ext cx="3355848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228600" lvl="0" indent="-228600"/>
            <a:r>
              <a:rPr lang="en-US"/>
              <a:t>BREADCRUMBS</a:t>
            </a:r>
          </a:p>
        </p:txBody>
      </p:sp>
      <p:sp>
        <p:nvSpPr>
          <p:cNvPr id="5" name="Title 12">
            <a:extLst>
              <a:ext uri="{FF2B5EF4-FFF2-40B4-BE49-F238E27FC236}">
                <a16:creationId xmlns:a16="http://schemas.microsoft.com/office/drawing/2014/main" id="{70C3D52A-2D58-A544-7E98-05431AA3A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5101"/>
            <a:ext cx="11277600" cy="647699"/>
          </a:xfr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6AF7D6D-29C7-CADA-2CD0-5024E02D58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868680"/>
            <a:ext cx="11275713" cy="5029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04872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heme" Target="../theme/theme1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FE22AC67-F225-435C-A44D-C2D03C5E55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647193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51" imgH="450" progId="TCLayout.ActiveDocument.1">
                  <p:embed/>
                </p:oleObj>
              </mc:Choice>
              <mc:Fallback>
                <p:oleObj name="think-cell Slide" r:id="rId7" imgW="451" imgH="45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FE22AC67-F225-435C-A44D-C2D03C5E55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62119065-A3DE-41D5-A5B7-A0A0F45108E5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4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26" name="Picture 2" descr="C:\Users\AHall\Downloads\AIG_core_r_rgb (2).png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9" y="6371674"/>
            <a:ext cx="722239" cy="358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65101"/>
            <a:ext cx="11277600" cy="6476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07981"/>
            <a:ext cx="11277600" cy="46689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07879" y="6592827"/>
            <a:ext cx="125034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marL="0" algn="ctr" defTabSz="914400" rtl="0" eaLnBrk="1" latinLnBrk="0" hangingPunct="1">
              <a:defRPr lang="en-US" sz="800" kern="1200" baseline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505E45A-03BB-464B-8278-1A9522AE72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8C1E3935-056F-4B58-8042-6F3F176B1408}"/>
              </a:ext>
            </a:extLst>
          </p:cNvPr>
          <p:cNvSpPr txBox="1">
            <a:spLocks/>
          </p:cNvSpPr>
          <p:nvPr userDrawn="1"/>
        </p:nvSpPr>
        <p:spPr>
          <a:xfrm>
            <a:off x="9299340" y="6590890"/>
            <a:ext cx="2055283" cy="123111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Strictly Confidential – For Internal Use Only</a:t>
            </a:r>
          </a:p>
        </p:txBody>
      </p:sp>
    </p:spTree>
    <p:custDataLst>
      <p:tags r:id="rId4"/>
    </p:custDataLst>
    <p:extLst>
      <p:ext uri="{BB962C8B-B14F-4D97-AF65-F5344CB8AC3E}">
        <p14:creationId xmlns:p14="http://schemas.microsoft.com/office/powerpoint/2010/main" val="1623449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778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400" b="1" kern="1200" baseline="0" dirty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28650" indent="-29527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–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8575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–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142875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948">
          <p15:clr>
            <a:srgbClr val="F26B43"/>
          </p15:clr>
        </p15:guide>
        <p15:guide id="4" orient="horz" pos="3894">
          <p15:clr>
            <a:srgbClr val="F26B43"/>
          </p15:clr>
        </p15:guide>
        <p15:guide id="5" pos="3840">
          <p15:clr>
            <a:srgbClr val="F26B43"/>
          </p15:clr>
        </p15:guide>
        <p15:guide id="6" pos="7392">
          <p15:clr>
            <a:srgbClr val="F26B43"/>
          </p15:clr>
        </p15:guide>
        <p15:guide id="7" pos="4032">
          <p15:clr>
            <a:srgbClr val="F26B43"/>
          </p15:clr>
        </p15:guide>
        <p15:guide id="8" pos="288">
          <p15:clr>
            <a:srgbClr val="F26B43"/>
          </p15:clr>
        </p15:guide>
        <p15:guide id="9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04C59EF-CA1E-4E6B-A99F-9867CD2BC2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199" y="6277179"/>
            <a:ext cx="11277601" cy="438759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75000"/>
                  </a:schemeClr>
                </a:solidFill>
              </a:rPr>
              <a:t>HIGHLY CONFIDENTIAL – DO NOT COPY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1BA16-66A8-4373-8BC5-41A8F4D48C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10/9/2025</a:t>
            </a: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5417A5D4-CD03-47E0-9C28-B1AE526E61A1}"/>
              </a:ext>
            </a:extLst>
          </p:cNvPr>
          <p:cNvSpPr/>
          <p:nvPr/>
        </p:nvSpPr>
        <p:spPr>
          <a:xfrm>
            <a:off x="-1" y="0"/>
            <a:ext cx="12192000" cy="27523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7853B6-A772-4D98-904F-EF589E291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3736428"/>
            <a:ext cx="9909313" cy="1016721"/>
          </a:xfrm>
        </p:spPr>
        <p:txBody>
          <a:bodyPr/>
          <a:lstStyle/>
          <a:p>
            <a:r>
              <a:rPr lang="en-US" dirty="0"/>
              <a:t>High level Estimate For Safelite implementation with Instanda policies/coverages</a:t>
            </a:r>
          </a:p>
        </p:txBody>
      </p:sp>
    </p:spTree>
    <p:extLst>
      <p:ext uri="{BB962C8B-B14F-4D97-AF65-F5344CB8AC3E}">
        <p14:creationId xmlns:p14="http://schemas.microsoft.com/office/powerpoint/2010/main" val="3256792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3326B233-0C30-CA16-EB50-8691EB28EA8A}"/>
              </a:ext>
            </a:extLst>
          </p:cNvPr>
          <p:cNvSpPr txBox="1">
            <a:spLocks/>
          </p:cNvSpPr>
          <p:nvPr/>
        </p:nvSpPr>
        <p:spPr>
          <a:xfrm>
            <a:off x="469900" y="794438"/>
            <a:ext cx="11252200" cy="239563"/>
          </a:xfrm>
          <a:prstGeom prst="rect">
            <a:avLst/>
          </a:prstGeom>
        </p:spPr>
        <p:txBody>
          <a:bodyPr/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8650" indent="-2952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001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287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Project timeline is based on high level understanding of the current scope</a:t>
            </a:r>
          </a:p>
        </p:txBody>
      </p:sp>
      <p:sp>
        <p:nvSpPr>
          <p:cNvPr id="55" name="Title 4">
            <a:extLst>
              <a:ext uri="{FF2B5EF4-FFF2-40B4-BE49-F238E27FC236}">
                <a16:creationId xmlns:a16="http://schemas.microsoft.com/office/drawing/2014/main" id="{97844041-B52C-FF9C-392F-F91FE2977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423063"/>
            <a:ext cx="6533606" cy="535224"/>
          </a:xfrm>
        </p:spPr>
        <p:txBody>
          <a:bodyPr anchor="t"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Option #05: Timelines &amp; Key Activities</a:t>
            </a:r>
          </a:p>
        </p:txBody>
      </p:sp>
      <p:sp>
        <p:nvSpPr>
          <p:cNvPr id="56" name="AutoShape 11">
            <a:extLst>
              <a:ext uri="{FF2B5EF4-FFF2-40B4-BE49-F238E27FC236}">
                <a16:creationId xmlns:a16="http://schemas.microsoft.com/office/drawing/2014/main" id="{97703976-CE0E-2AE4-5D6C-353F83D81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5596" y="1143242"/>
            <a:ext cx="5545042" cy="366172"/>
          </a:xfrm>
          <a:prstGeom prst="chevron">
            <a:avLst>
              <a:gd name="adj" fmla="val 34358"/>
            </a:avLst>
          </a:prstGeom>
          <a:solidFill>
            <a:schemeClr val="accent2">
              <a:lumMod val="75000"/>
            </a:schemeClr>
          </a:solidFill>
          <a:ln w="28575" algn="ctr">
            <a:solidFill>
              <a:srgbClr val="FFFFFF"/>
            </a:solidFill>
            <a:miter lim="800000"/>
            <a:headEnd type="none" w="sm" len="sm"/>
            <a:tailEnd type="none" w="sm" len="sm"/>
          </a:ln>
        </p:spPr>
        <p:txBody>
          <a:bodyPr tIns="121920" bIns="121920" anchor="ctr"/>
          <a:lstStyle/>
          <a:p>
            <a:pPr marL="0" marR="0" lvl="0" indent="0" algn="ctr" defTabSz="121917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</a:t>
            </a:r>
            <a:r>
              <a:rPr lang="en-GB" sz="1400" b="1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&amp; Testing</a:t>
            </a:r>
          </a:p>
        </p:txBody>
      </p:sp>
      <p:sp>
        <p:nvSpPr>
          <p:cNvPr id="57" name="AutoShape 12">
            <a:extLst>
              <a:ext uri="{FF2B5EF4-FFF2-40B4-BE49-F238E27FC236}">
                <a16:creationId xmlns:a16="http://schemas.microsoft.com/office/drawing/2014/main" id="{82A6FE24-8486-CFFA-B7F7-1D1AAB890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3745" y="1131855"/>
            <a:ext cx="1465577" cy="367522"/>
          </a:xfrm>
          <a:prstGeom prst="chevron">
            <a:avLst>
              <a:gd name="adj" fmla="val 34358"/>
            </a:avLst>
          </a:prstGeom>
          <a:solidFill>
            <a:schemeClr val="accent4">
              <a:lumMod val="50000"/>
            </a:schemeClr>
          </a:solidFill>
          <a:ln w="28575" algn="ctr">
            <a:solidFill>
              <a:srgbClr val="FFFFFF"/>
            </a:solidFill>
            <a:miter lim="800000"/>
            <a:headEnd type="none" w="sm" len="sm"/>
            <a:tailEnd type="none" w="sm" len="sm"/>
          </a:ln>
        </p:spPr>
        <p:txBody>
          <a:bodyPr tIns="121920" bIns="121920" anchor="ctr"/>
          <a:lstStyle/>
          <a:p>
            <a:pPr marL="0" marR="0" lvl="0" indent="0" algn="ctr" defTabSz="121917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1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Planning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AutoShape 4">
            <a:extLst>
              <a:ext uri="{FF2B5EF4-FFF2-40B4-BE49-F238E27FC236}">
                <a16:creationId xmlns:a16="http://schemas.microsoft.com/office/drawing/2014/main" id="{524D2249-B11D-2B2C-699E-08786596C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89692" y="1131856"/>
            <a:ext cx="1061823" cy="377558"/>
          </a:xfrm>
          <a:prstGeom prst="chevron">
            <a:avLst>
              <a:gd name="adj" fmla="val 34358"/>
            </a:avLst>
          </a:prstGeom>
          <a:solidFill>
            <a:srgbClr val="00B050"/>
          </a:solidFill>
          <a:ln w="28575" algn="ctr">
            <a:solidFill>
              <a:srgbClr val="FFFFFF"/>
            </a:solidFill>
            <a:miter lim="800000"/>
            <a:headEnd type="none" w="sm" len="sm"/>
            <a:tailEnd type="none" w="sm" len="sm"/>
          </a:ln>
        </p:spPr>
        <p:txBody>
          <a:bodyPr wrap="none" tIns="121920" bIns="121920" anchor="ctr"/>
          <a:lstStyle/>
          <a:p>
            <a:pPr marL="0" marR="0" lvl="0" indent="0" algn="ctr" defTabSz="121917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Release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F0CEC89A-F1D3-5A11-AA6A-01A42409C2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676133"/>
              </p:ext>
            </p:extLst>
          </p:nvPr>
        </p:nvGraphicFramePr>
        <p:xfrm>
          <a:off x="592195" y="1552042"/>
          <a:ext cx="10874951" cy="486738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164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564">
                  <a:extLst>
                    <a:ext uri="{9D8B030D-6E8A-4147-A177-3AD203B41FA5}">
                      <a16:colId xmlns:a16="http://schemas.microsoft.com/office/drawing/2014/main" val="781088472"/>
                    </a:ext>
                  </a:extLst>
                </a:gridCol>
                <a:gridCol w="642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564">
                  <a:extLst>
                    <a:ext uri="{9D8B030D-6E8A-4147-A177-3AD203B41FA5}">
                      <a16:colId xmlns:a16="http://schemas.microsoft.com/office/drawing/2014/main" val="1971988950"/>
                    </a:ext>
                  </a:extLst>
                </a:gridCol>
                <a:gridCol w="642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2564">
                  <a:extLst>
                    <a:ext uri="{9D8B030D-6E8A-4147-A177-3AD203B41FA5}">
                      <a16:colId xmlns:a16="http://schemas.microsoft.com/office/drawing/2014/main" val="2957736071"/>
                    </a:ext>
                  </a:extLst>
                </a:gridCol>
                <a:gridCol w="642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564">
                  <a:extLst>
                    <a:ext uri="{9D8B030D-6E8A-4147-A177-3AD203B41FA5}">
                      <a16:colId xmlns:a16="http://schemas.microsoft.com/office/drawing/2014/main" val="2576281917"/>
                    </a:ext>
                  </a:extLst>
                </a:gridCol>
                <a:gridCol w="6425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2564">
                  <a:extLst>
                    <a:ext uri="{9D8B030D-6E8A-4147-A177-3AD203B41FA5}">
                      <a16:colId xmlns:a16="http://schemas.microsoft.com/office/drawing/2014/main" val="1538116074"/>
                    </a:ext>
                  </a:extLst>
                </a:gridCol>
                <a:gridCol w="6425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2564">
                  <a:extLst>
                    <a:ext uri="{9D8B030D-6E8A-4147-A177-3AD203B41FA5}">
                      <a16:colId xmlns:a16="http://schemas.microsoft.com/office/drawing/2014/main" val="4189644350"/>
                    </a:ext>
                  </a:extLst>
                </a:gridCol>
              </a:tblGrid>
              <a:tr h="36527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Key Activities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Wk-1</a:t>
                      </a:r>
                    </a:p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9/29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Wk-2</a:t>
                      </a:r>
                    </a:p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10/6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Wk-3</a:t>
                      </a:r>
                    </a:p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10/13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Wk-4</a:t>
                      </a:r>
                    </a:p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10/20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Wk-5</a:t>
                      </a:r>
                    </a:p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10/27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Wk-6</a:t>
                      </a:r>
                    </a:p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11/03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Wk-7</a:t>
                      </a:r>
                    </a:p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11/10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Wk-8</a:t>
                      </a:r>
                    </a:p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11/17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Wk-9</a:t>
                      </a:r>
                    </a:p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11/24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Wk-10</a:t>
                      </a:r>
                    </a:p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12/01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Wk-11</a:t>
                      </a:r>
                    </a:p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12/8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Wk-12</a:t>
                      </a:r>
                    </a:p>
                    <a:p>
                      <a:r>
                        <a:rPr lang="en-US" sz="900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12/15</a:t>
                      </a: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856973"/>
                  </a:ext>
                </a:extLst>
              </a:tr>
              <a:tr h="6973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Scope Identification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Evaluating different options for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Safelite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implementation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 and Testing activities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Requirements gathering, impact analysis and ETL Design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Build and UT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Autosys and FTP set up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QA/In-Sprint Testing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E2E Testing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UAT by Project team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85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1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 Migration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KT to BAU team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 Migration and Warranty Support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5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Client Support / week  (in hrs.)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+mn-lt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174450"/>
                  </a:ext>
                </a:extLst>
              </a:tr>
              <a:tr h="1588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Key Client Activities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alpha val="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 support to onboard the Safelite vendor for testing and signoff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Review proposed approach / design solution and provide feedback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 the support to clarify any questions, if any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Validate UAT test scenarios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Perform UAT testing (data ingestion to DMDM) and provide feedback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 UAT oversight for Safelite (API testing) &amp; give overall signoff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 support from AIG Infra team for the production deployment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066091"/>
                  </a:ext>
                </a:extLst>
              </a:tr>
            </a:tbl>
          </a:graphicData>
        </a:graphic>
      </p:graphicFrame>
      <p:sp>
        <p:nvSpPr>
          <p:cNvPr id="62" name="Pentagon 107">
            <a:extLst>
              <a:ext uri="{FF2B5EF4-FFF2-40B4-BE49-F238E27FC236}">
                <a16:creationId xmlns:a16="http://schemas.microsoft.com/office/drawing/2014/main" id="{C844D85A-981A-6057-C8D9-F3494DACA98D}"/>
              </a:ext>
            </a:extLst>
          </p:cNvPr>
          <p:cNvSpPr/>
          <p:nvPr/>
        </p:nvSpPr>
        <p:spPr bwMode="gray">
          <a:xfrm>
            <a:off x="5037980" y="2818371"/>
            <a:ext cx="1311877" cy="134776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 w="19050" algn="ctr">
            <a:solidFill>
              <a:schemeClr val="bg1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Pentagon 107">
            <a:extLst>
              <a:ext uri="{FF2B5EF4-FFF2-40B4-BE49-F238E27FC236}">
                <a16:creationId xmlns:a16="http://schemas.microsoft.com/office/drawing/2014/main" id="{90132A6E-01C7-622F-2CAF-E4F4495F7FEA}"/>
              </a:ext>
            </a:extLst>
          </p:cNvPr>
          <p:cNvSpPr/>
          <p:nvPr/>
        </p:nvSpPr>
        <p:spPr bwMode="gray">
          <a:xfrm>
            <a:off x="3730248" y="2203761"/>
            <a:ext cx="1190083" cy="118560"/>
          </a:xfrm>
          <a:prstGeom prst="flowChartProcess">
            <a:avLst/>
          </a:prstGeom>
          <a:solidFill>
            <a:schemeClr val="accent4">
              <a:lumMod val="50000"/>
            </a:schemeClr>
          </a:solidFill>
          <a:ln w="19050" algn="ctr">
            <a:solidFill>
              <a:schemeClr val="bg1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Pentagon 107">
            <a:extLst>
              <a:ext uri="{FF2B5EF4-FFF2-40B4-BE49-F238E27FC236}">
                <a16:creationId xmlns:a16="http://schemas.microsoft.com/office/drawing/2014/main" id="{AC780003-945A-F9A4-7E89-AB21134AE58A}"/>
              </a:ext>
            </a:extLst>
          </p:cNvPr>
          <p:cNvSpPr/>
          <p:nvPr/>
        </p:nvSpPr>
        <p:spPr bwMode="gray">
          <a:xfrm>
            <a:off x="6279932" y="3095507"/>
            <a:ext cx="1944000" cy="134776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 w="19050" algn="ctr">
            <a:solidFill>
              <a:schemeClr val="bg1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Pentagon 107">
            <a:extLst>
              <a:ext uri="{FF2B5EF4-FFF2-40B4-BE49-F238E27FC236}">
                <a16:creationId xmlns:a16="http://schemas.microsoft.com/office/drawing/2014/main" id="{F91C2AE4-EEB2-672D-0ED7-5DC5681B5587}"/>
              </a:ext>
            </a:extLst>
          </p:cNvPr>
          <p:cNvSpPr/>
          <p:nvPr/>
        </p:nvSpPr>
        <p:spPr bwMode="gray">
          <a:xfrm>
            <a:off x="9525144" y="4106396"/>
            <a:ext cx="540000" cy="134776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 w="19050" algn="ctr">
            <a:solidFill>
              <a:schemeClr val="bg1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Pentagon 107">
            <a:extLst>
              <a:ext uri="{FF2B5EF4-FFF2-40B4-BE49-F238E27FC236}">
                <a16:creationId xmlns:a16="http://schemas.microsoft.com/office/drawing/2014/main" id="{3729C9D4-AC8B-11E4-B8AD-CB8E46C8D71A}"/>
              </a:ext>
            </a:extLst>
          </p:cNvPr>
          <p:cNvSpPr/>
          <p:nvPr/>
        </p:nvSpPr>
        <p:spPr bwMode="gray">
          <a:xfrm>
            <a:off x="10671614" y="4840872"/>
            <a:ext cx="806125" cy="118560"/>
          </a:xfrm>
          <a:prstGeom prst="flowChartProcess">
            <a:avLst/>
          </a:prstGeom>
          <a:solidFill>
            <a:srgbClr val="3C8A2E"/>
          </a:solidFill>
          <a:ln w="19050" algn="ctr">
            <a:solidFill>
              <a:schemeClr val="bg1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Flowchart: Decision 69">
            <a:extLst>
              <a:ext uri="{FF2B5EF4-FFF2-40B4-BE49-F238E27FC236}">
                <a16:creationId xmlns:a16="http://schemas.microsoft.com/office/drawing/2014/main" id="{EEDB5076-86A8-B397-C031-EF49C2883CD1}"/>
              </a:ext>
            </a:extLst>
          </p:cNvPr>
          <p:cNvSpPr/>
          <p:nvPr/>
        </p:nvSpPr>
        <p:spPr bwMode="auto">
          <a:xfrm>
            <a:off x="4889911" y="2171601"/>
            <a:ext cx="182880" cy="182880"/>
          </a:xfrm>
          <a:prstGeom prst="flowChartDecision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91440" rIns="0" bIns="0" numCol="1" rtlCol="0" anchor="t" anchorCtr="0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Tx/>
              <a:buFont typeface="Wingdings" pitchFamily="2" charset="2"/>
              <a:buChar char="n"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A4040AD-CF2C-0D74-D91E-5367DA036112}"/>
              </a:ext>
            </a:extLst>
          </p:cNvPr>
          <p:cNvSpPr txBox="1"/>
          <p:nvPr/>
        </p:nvSpPr>
        <p:spPr>
          <a:xfrm>
            <a:off x="5072791" y="1934184"/>
            <a:ext cx="1462444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 lang="en-US" sz="1000" b="1" i="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 off for approach for DMDM process</a:t>
            </a:r>
          </a:p>
        </p:txBody>
      </p:sp>
      <p:sp>
        <p:nvSpPr>
          <p:cNvPr id="72" name="Flowchart: Decision 71">
            <a:extLst>
              <a:ext uri="{FF2B5EF4-FFF2-40B4-BE49-F238E27FC236}">
                <a16:creationId xmlns:a16="http://schemas.microsoft.com/office/drawing/2014/main" id="{831BF404-1857-BCDF-3150-4C6F148799C4}"/>
              </a:ext>
            </a:extLst>
          </p:cNvPr>
          <p:cNvSpPr/>
          <p:nvPr/>
        </p:nvSpPr>
        <p:spPr bwMode="auto">
          <a:xfrm>
            <a:off x="9993905" y="4058292"/>
            <a:ext cx="182880" cy="182880"/>
          </a:xfrm>
          <a:prstGeom prst="flowChartDecision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91440" rIns="0" bIns="0" numCol="1" rtlCol="0" anchor="t" anchorCtr="0" compatLnSpc="1">
            <a:prstTxWarp prst="textNoShape">
              <a:avLst/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Tx/>
              <a:buFont typeface="Wingdings" pitchFamily="2" charset="2"/>
              <a:buChar char="n"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BAE9600-6D02-7F62-8D14-1A7D0A1F016F}"/>
              </a:ext>
            </a:extLst>
          </p:cNvPr>
          <p:cNvSpPr txBox="1"/>
          <p:nvPr/>
        </p:nvSpPr>
        <p:spPr>
          <a:xfrm>
            <a:off x="10105545" y="3891287"/>
            <a:ext cx="1190330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 lang="en-US" sz="9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UAT Sign-off</a:t>
            </a:r>
            <a:endParaRPr lang="en-US" sz="900" b="1" i="0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5-Point Star 50">
            <a:extLst>
              <a:ext uri="{FF2B5EF4-FFF2-40B4-BE49-F238E27FC236}">
                <a16:creationId xmlns:a16="http://schemas.microsoft.com/office/drawing/2014/main" id="{BF24CCE4-B5C3-EBE5-8DEC-DF789DD60690}"/>
              </a:ext>
            </a:extLst>
          </p:cNvPr>
          <p:cNvSpPr/>
          <p:nvPr/>
        </p:nvSpPr>
        <p:spPr>
          <a:xfrm>
            <a:off x="10527546" y="4724626"/>
            <a:ext cx="366876" cy="338791"/>
          </a:xfrm>
          <a:prstGeom prst="star5">
            <a:avLst/>
          </a:prstGeom>
          <a:solidFill>
            <a:srgbClr val="C00000"/>
          </a:solidFill>
          <a:ln w="12700" cap="flat" cmpd="sng" algn="ctr">
            <a:solidFill>
              <a:srgbClr val="0033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Pentagon 107">
            <a:extLst>
              <a:ext uri="{FF2B5EF4-FFF2-40B4-BE49-F238E27FC236}">
                <a16:creationId xmlns:a16="http://schemas.microsoft.com/office/drawing/2014/main" id="{74144226-8767-C48C-709A-B7618D19F846}"/>
              </a:ext>
            </a:extLst>
          </p:cNvPr>
          <p:cNvSpPr/>
          <p:nvPr/>
        </p:nvSpPr>
        <p:spPr bwMode="gray">
          <a:xfrm>
            <a:off x="7611932" y="3372643"/>
            <a:ext cx="612000" cy="134776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 w="19050" algn="ctr">
            <a:solidFill>
              <a:schemeClr val="bg1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Pentagon 107">
            <a:extLst>
              <a:ext uri="{FF2B5EF4-FFF2-40B4-BE49-F238E27FC236}">
                <a16:creationId xmlns:a16="http://schemas.microsoft.com/office/drawing/2014/main" id="{B933DCE9-0B4D-E7FE-7983-CC2DB7AA0E5B}"/>
              </a:ext>
            </a:extLst>
          </p:cNvPr>
          <p:cNvSpPr/>
          <p:nvPr/>
        </p:nvSpPr>
        <p:spPr bwMode="gray">
          <a:xfrm>
            <a:off x="8223932" y="3641480"/>
            <a:ext cx="684000" cy="134776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 w="19050" algn="ctr">
            <a:solidFill>
              <a:schemeClr val="bg1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Pentagon 107">
            <a:extLst>
              <a:ext uri="{FF2B5EF4-FFF2-40B4-BE49-F238E27FC236}">
                <a16:creationId xmlns:a16="http://schemas.microsoft.com/office/drawing/2014/main" id="{357B947C-CD33-9F4B-79CC-9B54B78C1006}"/>
              </a:ext>
            </a:extLst>
          </p:cNvPr>
          <p:cNvSpPr/>
          <p:nvPr/>
        </p:nvSpPr>
        <p:spPr bwMode="gray">
          <a:xfrm>
            <a:off x="8929627" y="3907929"/>
            <a:ext cx="612000" cy="134776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 w="19050" algn="ctr">
            <a:solidFill>
              <a:schemeClr val="bg1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Pentagon 107">
            <a:extLst>
              <a:ext uri="{FF2B5EF4-FFF2-40B4-BE49-F238E27FC236}">
                <a16:creationId xmlns:a16="http://schemas.microsoft.com/office/drawing/2014/main" id="{A68C3175-6A5A-FD39-E6FA-9F788E4BEEB9}"/>
              </a:ext>
            </a:extLst>
          </p:cNvPr>
          <p:cNvSpPr/>
          <p:nvPr/>
        </p:nvSpPr>
        <p:spPr bwMode="gray">
          <a:xfrm>
            <a:off x="10206678" y="4580653"/>
            <a:ext cx="415985" cy="118560"/>
          </a:xfrm>
          <a:prstGeom prst="flowChartProcess">
            <a:avLst/>
          </a:prstGeom>
          <a:solidFill>
            <a:srgbClr val="3C8A2E"/>
          </a:solidFill>
          <a:ln w="19050" algn="ctr">
            <a:solidFill>
              <a:schemeClr val="bg1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6E8E25-569F-C285-EADA-3786165DA6AF}"/>
              </a:ext>
            </a:extLst>
          </p:cNvPr>
          <p:cNvSpPr txBox="1"/>
          <p:nvPr/>
        </p:nvSpPr>
        <p:spPr>
          <a:xfrm>
            <a:off x="10782424" y="4621456"/>
            <a:ext cx="1190330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r>
              <a:rPr lang="en-US" sz="9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Live</a:t>
            </a:r>
            <a:endParaRPr lang="en-US" sz="900" b="1" i="0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977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90D3B-D326-9039-01D5-281853530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4">
            <a:extLst>
              <a:ext uri="{FF2B5EF4-FFF2-40B4-BE49-F238E27FC236}">
                <a16:creationId xmlns:a16="http://schemas.microsoft.com/office/drawing/2014/main" id="{78071C72-16FF-D9C1-BBF6-ABDAE45A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423063"/>
            <a:ext cx="6533606" cy="535224"/>
          </a:xfrm>
        </p:spPr>
        <p:txBody>
          <a:bodyPr anchor="t"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Roles and Responsibilities (current estimate)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947673F-2BC0-460A-A9FD-23B5DAC40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786041"/>
              </p:ext>
            </p:extLst>
          </p:nvPr>
        </p:nvGraphicFramePr>
        <p:xfrm>
          <a:off x="247132" y="796039"/>
          <a:ext cx="11530833" cy="5718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99821342"/>
                    </a:ext>
                  </a:extLst>
                </a:gridCol>
                <a:gridCol w="6501633">
                  <a:extLst>
                    <a:ext uri="{9D8B030D-6E8A-4147-A177-3AD203B41FA5}">
                      <a16:colId xmlns:a16="http://schemas.microsoft.com/office/drawing/2014/main" val="231441447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9994191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17917795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51600647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722642075"/>
                    </a:ext>
                  </a:extLst>
                </a:gridCol>
              </a:tblGrid>
              <a:tr h="27056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Phase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Activities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Deloitte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PCS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AIG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Safelite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616811"/>
                  </a:ext>
                </a:extLst>
              </a:tr>
              <a:tr h="0">
                <a:tc rowSpan="7"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Planning &amp; Design</a:t>
                      </a:r>
                    </a:p>
                  </a:txBody>
                  <a:tcPr marT="36576" marB="36576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Facilitate engagement with Safelite for the discussions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  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3501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Draft, document, and finalize the solution scope, design, and timeline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645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Review and approve the design and timelines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65188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Provision access &amp; approvals to AIG environment for the file transfer and ingestion into DMDM table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841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Provision access to Safelite API and relevant jobs</a:t>
                      </a:r>
                      <a:endParaRPr lang="en-US" sz="1100" dirty="0">
                        <a:highlight>
                          <a:srgbClr val="FFFF00"/>
                        </a:highlight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19281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Create test schedule, test cases, and coordinate approvals with Safelite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34916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Review and approve testing schedule and test cases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342592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algn="ctr"/>
                      <a:r>
                        <a:rPr 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Development</a:t>
                      </a:r>
                    </a:p>
                  </a:txBody>
                  <a:tcPr marT="36576" marB="36576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Develop ETL job for the data feed creation &amp; conduct Unit Testing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1809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Set up folders on PCS SFTP server for the file transfer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0123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Setup MFT for the file transfer from PCS SFTP location to AIG location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4159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Develop ETL job for ingestion into AIG DMDM table &amp; conduct Unit Testing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6238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Conduct reconciliation of data file with control file between PCS and AIG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274225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Testing</a:t>
                      </a:r>
                    </a:p>
                  </a:txBody>
                  <a:tcPr marT="36576" marB="36576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Coordinate &amp; Manage E2E testing and input, load data for required scenarios into UAT environment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89736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Conduct UAT testing for data in AIG DMDM table and provide approvals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7111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Conduct UAT testing for Safelite API results and response validation and provide approvals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470941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Deployment</a:t>
                      </a:r>
                    </a:p>
                  </a:txBody>
                  <a:tcPr marT="36576" marB="36576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Deploy to production (PCS code)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7387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Deploy to production (AIG code)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7535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Provide support during the deployment process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710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Hypercare</a:t>
                      </a:r>
                    </a:p>
                  </a:txBody>
                  <a:tcPr marT="36576" marB="36576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Warranty Support – 4 weeks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833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6699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BF912-8DEF-0645-7C56-6993FD767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4">
            <a:extLst>
              <a:ext uri="{FF2B5EF4-FFF2-40B4-BE49-F238E27FC236}">
                <a16:creationId xmlns:a16="http://schemas.microsoft.com/office/drawing/2014/main" id="{95637486-D33F-DBEE-86DE-0A5B80D94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423063"/>
            <a:ext cx="6533606" cy="535224"/>
          </a:xfrm>
        </p:spPr>
        <p:txBody>
          <a:bodyPr anchor="t"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Roles and Responsibilities (E2E estimate)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F74AE1-0B15-CE00-5E27-83F0B01170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696870"/>
              </p:ext>
            </p:extLst>
          </p:nvPr>
        </p:nvGraphicFramePr>
        <p:xfrm>
          <a:off x="247132" y="796039"/>
          <a:ext cx="11530833" cy="600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99821342"/>
                    </a:ext>
                  </a:extLst>
                </a:gridCol>
                <a:gridCol w="6501633">
                  <a:extLst>
                    <a:ext uri="{9D8B030D-6E8A-4147-A177-3AD203B41FA5}">
                      <a16:colId xmlns:a16="http://schemas.microsoft.com/office/drawing/2014/main" val="231441447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9994191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17917795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51600647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722642075"/>
                    </a:ext>
                  </a:extLst>
                </a:gridCol>
              </a:tblGrid>
              <a:tr h="27056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Phase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Activities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Deloitte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PCS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AIG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Safelite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616811"/>
                  </a:ext>
                </a:extLst>
              </a:tr>
              <a:tr h="0">
                <a:tc rowSpan="8"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Planning &amp; Design</a:t>
                      </a:r>
                    </a:p>
                  </a:txBody>
                  <a:tcPr marT="36576" marB="36576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Facilitate engagement with Safelite for the discussions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  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3501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Draft, document, and finalize the solution scope, design, and timeline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645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Review and approve the design and timelines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65188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Provision access &amp; approvals to AIG environment for the file transfer and ingestion into DMDM table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841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Provision access to Safelite API and relevant jobs</a:t>
                      </a:r>
                      <a:endParaRPr lang="en-US" sz="1100" dirty="0">
                        <a:highlight>
                          <a:srgbClr val="FFFF00"/>
                        </a:highlight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19281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0000"/>
                          </a:solidFill>
                        </a:rPr>
                        <a:t>Analyze and document Safelite process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69035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Create test schedule, test cases, and coordinate approvals with Safelite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34916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Review and approve testing schedule and test cases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trike="sngStrike" dirty="0">
                          <a:solidFill>
                            <a:srgbClr val="FF0000"/>
                          </a:solidFill>
                        </a:rPr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342592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algn="ctr"/>
                      <a:r>
                        <a:rPr 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Development</a:t>
                      </a:r>
                    </a:p>
                  </a:txBody>
                  <a:tcPr marT="36576" marB="36576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Develop ETL job for the data feed creation &amp; conduct Unit Testing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1809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Set up folders on PCS SFTP server for the file transfer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0123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Setup MFT for the file transfer from PCS SFTP location to AIG location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4159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Develop ETL job for ingestion into AIG DMDM table &amp; conduct Unit Testing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6238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Conduct reconciliation of data file with control file between PCS and AIG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274225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Testing</a:t>
                      </a:r>
                    </a:p>
                  </a:txBody>
                  <a:tcPr marT="36576" marB="36576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Coordinate &amp; Manage E2E testing and input, load data for required scenarios into UAT environment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89736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Conduct UAT testing for data in AIG DMDM table and provide approvals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7111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Conduct UAT testing for Safelite API results and response validation and provide approvals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strike="sngStrike" dirty="0">
                          <a:solidFill>
                            <a:srgbClr val="FF0000"/>
                          </a:solidFill>
                        </a:rPr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470941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/>
                      <a:r>
                        <a:rPr 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Deployment</a:t>
                      </a:r>
                    </a:p>
                  </a:txBody>
                  <a:tcPr marT="36576" marB="36576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Deploy to production (PCS code)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7387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Deploy to production (AIG code)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7535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Provide support during the deployment process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highlight>
                          <a:srgbClr val="FFFF00"/>
                        </a:highlight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710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Hypercare</a:t>
                      </a:r>
                    </a:p>
                  </a:txBody>
                  <a:tcPr marT="36576" marB="36576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Warranty Support – 4 weeks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✓</a:t>
                      </a:r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83342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C037715-B5F3-B63A-00EC-E24F77E5B67A}"/>
              </a:ext>
            </a:extLst>
          </p:cNvPr>
          <p:cNvSpPr txBox="1"/>
          <p:nvPr/>
        </p:nvSpPr>
        <p:spPr>
          <a:xfrm>
            <a:off x="10125075" y="423063"/>
            <a:ext cx="17148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Changes Noted in </a:t>
            </a:r>
            <a:r>
              <a:rPr lang="en-US" sz="1100" dirty="0">
                <a:solidFill>
                  <a:srgbClr val="FF0000"/>
                </a:solidFill>
              </a:rPr>
              <a:t>Red</a:t>
            </a:r>
          </a:p>
        </p:txBody>
      </p:sp>
    </p:spTree>
    <p:extLst>
      <p:ext uri="{BB962C8B-B14F-4D97-AF65-F5344CB8AC3E}">
        <p14:creationId xmlns:p14="http://schemas.microsoft.com/office/powerpoint/2010/main" val="492399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16C97-05F7-DD74-7C0C-E00A9DFA0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27A550A6-6CB8-60F5-042A-ED2A1D4E8BA5}"/>
              </a:ext>
            </a:extLst>
          </p:cNvPr>
          <p:cNvGraphicFramePr>
            <a:graphicFrameLocks noGrp="1"/>
          </p:cNvGraphicFramePr>
          <p:nvPr/>
        </p:nvGraphicFramePr>
        <p:xfrm>
          <a:off x="776747" y="1504097"/>
          <a:ext cx="10789920" cy="3489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87077257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899016302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288215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Option #4</a:t>
                      </a: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1400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Transform monthly to Daily Data Sync-up PCS to AIG</a:t>
                      </a:r>
                      <a:endParaRPr lang="en-US" sz="1400" b="1" i="1" dirty="0"/>
                    </a:p>
                  </a:txBody>
                  <a:tcPr marT="91440" marB="9144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Option #5</a:t>
                      </a:r>
                    </a:p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1400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 Feed from PCS to AIG and ingest into DMDM coverage table</a:t>
                      </a:r>
                      <a:endParaRPr lang="en-US" sz="1400" b="1" i="1" dirty="0"/>
                    </a:p>
                  </a:txBody>
                  <a:tcPr marT="91440" marB="9144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940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Pros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 new development of ETL jobs but enhancement of existing 2 sequence jobs to include </a:t>
                      </a:r>
                      <a:r>
                        <a:rPr lang="en-US" sz="12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Instanda</a:t>
                      </a: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data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Schedule change from monthly to daily sync-up makes timely accessibility and usability of data for intended business users/downstream systems</a:t>
                      </a:r>
                      <a:endParaRPr lang="en-US" sz="1200" dirty="0"/>
                    </a:p>
                  </a:txBody>
                  <a:tcPr marT="91440" marB="9144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Wingdings" panose="05000000000000000000" pitchFamily="2" charset="2"/>
                        <a:buChar char="ü"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No dependency on monthly sync up process and comparatively less maintenance overhead for the newly developed  extract/ftp/load jobs</a:t>
                      </a:r>
                    </a:p>
                    <a:p>
                      <a:pPr marL="228600" indent="-228600">
                        <a:buFont typeface="Wingdings" panose="05000000000000000000" pitchFamily="2" charset="2"/>
                        <a:buChar char="ü"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Daily data file (Instanda) received from PCS will be loaded into existing DMDM tables without any impact to existing process.</a:t>
                      </a:r>
                    </a:p>
                    <a:p>
                      <a:pPr marL="228600" indent="-228600">
                        <a:buFont typeface="Wingdings" panose="05000000000000000000" pitchFamily="2" charset="2"/>
                        <a:buChar char="ü"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Not impacted if monthly sync process is removed or modified in the future</a:t>
                      </a:r>
                    </a:p>
                  </a:txBody>
                  <a:tcPr marT="91440" marB="9144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55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Cons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Calibri" panose="020F0502020204030204" pitchFamily="34" charset="0"/>
                        <a:buChar char="×"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80+ tables sync up daily can have maintenance risk, any validation failure can cause delay in entire batch process, impacting timely availability of data for downstream systems</a:t>
                      </a:r>
                    </a:p>
                    <a:p>
                      <a:pPr marL="285750" indent="-285750" algn="l" defTabSz="914400" rtl="0" eaLnBrk="1" latinLnBrk="0" hangingPunct="1">
                        <a:buFont typeface="Calibri" panose="020F0502020204030204" pitchFamily="34" charset="0"/>
                        <a:buChar char="×"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Delay in FTP process will cause delay in batch completion (summary tables) and downstream systems</a:t>
                      </a:r>
                    </a:p>
                    <a:p>
                      <a:pPr marL="285750" indent="-285750" algn="l" defTabSz="914400" rtl="0" eaLnBrk="1" latinLnBrk="0" hangingPunct="1">
                        <a:buFont typeface="Calibri" panose="020F0502020204030204" pitchFamily="34" charset="0"/>
                        <a:buChar char="×"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Manual updates/deletes by BAU team on the DWH tables needs to be consistent for PCS vs PCG DWH</a:t>
                      </a:r>
                    </a:p>
                  </a:txBody>
                  <a:tcPr marT="91440" marB="9144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alibri" panose="020F0502020204030204" pitchFamily="34" charset="0"/>
                        <a:buChar char="×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Delay in FTP process will cause delay in DMDM to Safelite process.</a:t>
                      </a:r>
                    </a:p>
                    <a:p>
                      <a:endParaRPr lang="en-US" dirty="0"/>
                    </a:p>
                  </a:txBody>
                  <a:tcPr marT="91440" marB="91440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900328"/>
                  </a:ext>
                </a:extLst>
              </a:tr>
            </a:tbl>
          </a:graphicData>
        </a:graphic>
      </p:graphicFrame>
      <p:sp>
        <p:nvSpPr>
          <p:cNvPr id="35" name="Slide Number Placeholder 3">
            <a:extLst>
              <a:ext uri="{FF2B5EF4-FFF2-40B4-BE49-F238E27FC236}">
                <a16:creationId xmlns:a16="http://schemas.microsoft.com/office/drawing/2014/main" id="{E9A9A9D6-55EA-6771-FF91-C00F274A3D75}"/>
              </a:ext>
            </a:extLst>
          </p:cNvPr>
          <p:cNvSpPr txBox="1">
            <a:spLocks/>
          </p:cNvSpPr>
          <p:nvPr/>
        </p:nvSpPr>
        <p:spPr>
          <a:xfrm>
            <a:off x="12103646" y="6593245"/>
            <a:ext cx="51296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lang="en-US" sz="800" kern="1200" baseline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05E45A-03BB-464B-8278-1A9522AE72B1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5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618274-5D59-7C7A-0417-3B7F74257574}"/>
              </a:ext>
            </a:extLst>
          </p:cNvPr>
          <p:cNvSpPr/>
          <p:nvPr/>
        </p:nvSpPr>
        <p:spPr>
          <a:xfrm>
            <a:off x="6543675" y="1257301"/>
            <a:ext cx="5191125" cy="4895850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82880" rtlCol="0" anchor="b"/>
          <a:lstStyle/>
          <a:p>
            <a:pPr algn="ctr"/>
            <a:r>
              <a:rPr lang="en-US" sz="14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recommend Option 5 as it has </a:t>
            </a:r>
            <a:r>
              <a:rPr lang="en-US" sz="14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dependencies on the daily PCS to AIG data sync-up</a:t>
            </a:r>
            <a:r>
              <a:rPr lang="en-US" sz="14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minimizing maintenance requirements and making the solution more future-proof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53F0605-1A20-3ED4-60F8-03EBE5595A5A}"/>
              </a:ext>
            </a:extLst>
          </p:cNvPr>
          <p:cNvSpPr txBox="1">
            <a:spLocks/>
          </p:cNvSpPr>
          <p:nvPr/>
        </p:nvSpPr>
        <p:spPr>
          <a:xfrm>
            <a:off x="457200" y="407965"/>
            <a:ext cx="11277600" cy="6476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Option Comparison</a:t>
            </a:r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99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98753-3350-E7DA-92D9-B58C593BC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4">
            <a:extLst>
              <a:ext uri="{FF2B5EF4-FFF2-40B4-BE49-F238E27FC236}">
                <a16:creationId xmlns:a16="http://schemas.microsoft.com/office/drawing/2014/main" id="{557696A9-4B58-008A-3312-F8E2924A7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423063"/>
            <a:ext cx="6533606" cy="535224"/>
          </a:xfrm>
        </p:spPr>
        <p:txBody>
          <a:bodyPr anchor="t"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Option- 04: Design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644E07-DA03-88C7-FD41-0208FF4B3B5D}"/>
              </a:ext>
            </a:extLst>
          </p:cNvPr>
          <p:cNvSpPr/>
          <p:nvPr/>
        </p:nvSpPr>
        <p:spPr>
          <a:xfrm>
            <a:off x="483427" y="1204903"/>
            <a:ext cx="4040575" cy="2089433"/>
          </a:xfrm>
          <a:prstGeom prst="rect">
            <a:avLst/>
          </a:prstGeom>
          <a:solidFill>
            <a:srgbClr val="E8E8E8">
              <a:lumMod val="90000"/>
            </a:srgbClr>
          </a:solidFill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D5A7DF-793A-05F9-8DC2-07E58E5D963E}"/>
              </a:ext>
            </a:extLst>
          </p:cNvPr>
          <p:cNvSpPr/>
          <p:nvPr/>
        </p:nvSpPr>
        <p:spPr>
          <a:xfrm>
            <a:off x="7253959" y="1211565"/>
            <a:ext cx="3964374" cy="4732864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11ACB8-1AE8-BCD9-D3D2-E8A7C7DF1C88}"/>
              </a:ext>
            </a:extLst>
          </p:cNvPr>
          <p:cNvSpPr/>
          <p:nvPr/>
        </p:nvSpPr>
        <p:spPr>
          <a:xfrm>
            <a:off x="748005" y="1576228"/>
            <a:ext cx="1480457" cy="1306285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PCS to PCG Daily Sync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D80FD7-7EAD-E643-34D9-A58932453828}"/>
              </a:ext>
            </a:extLst>
          </p:cNvPr>
          <p:cNvSpPr/>
          <p:nvPr/>
        </p:nvSpPr>
        <p:spPr>
          <a:xfrm>
            <a:off x="3077551" y="1576228"/>
            <a:ext cx="1153886" cy="1306285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Generate files with Control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C62684-B2CF-6365-8FA5-CB7657005FE9}"/>
              </a:ext>
            </a:extLst>
          </p:cNvPr>
          <p:cNvSpPr/>
          <p:nvPr/>
        </p:nvSpPr>
        <p:spPr>
          <a:xfrm>
            <a:off x="5418362" y="1576229"/>
            <a:ext cx="1153886" cy="1306284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FTP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09A00D2-7E3D-A295-2DF0-647C31DD1366}"/>
              </a:ext>
            </a:extLst>
          </p:cNvPr>
          <p:cNvCxnSpPr>
            <a:stCxn id="27" idx="3"/>
            <a:endCxn id="28" idx="1"/>
          </p:cNvCxnSpPr>
          <p:nvPr/>
        </p:nvCxnSpPr>
        <p:spPr>
          <a:xfrm>
            <a:off x="2228462" y="2229371"/>
            <a:ext cx="849089" cy="0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A971944-83BD-9187-25AC-54212CE68C9C}"/>
              </a:ext>
            </a:extLst>
          </p:cNvPr>
          <p:cNvCxnSpPr>
            <a:stCxn id="28" idx="3"/>
            <a:endCxn id="29" idx="1"/>
          </p:cNvCxnSpPr>
          <p:nvPr/>
        </p:nvCxnSpPr>
        <p:spPr>
          <a:xfrm>
            <a:off x="4231437" y="2229371"/>
            <a:ext cx="1186925" cy="0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46518AD9-DC1C-769A-387C-0B73EA1E4FAA}"/>
              </a:ext>
            </a:extLst>
          </p:cNvPr>
          <p:cNvSpPr/>
          <p:nvPr/>
        </p:nvSpPr>
        <p:spPr>
          <a:xfrm>
            <a:off x="7486650" y="1582890"/>
            <a:ext cx="1153886" cy="1306284"/>
          </a:xfrm>
          <a:prstGeom prst="rect">
            <a:avLst/>
          </a:pr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PCG DS Landing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CFEE214-19EC-870F-FDCD-5622CB2ABF2E}"/>
              </a:ext>
            </a:extLst>
          </p:cNvPr>
          <p:cNvCxnSpPr>
            <a:stCxn id="29" idx="3"/>
            <a:endCxn id="32" idx="1"/>
          </p:cNvCxnSpPr>
          <p:nvPr/>
        </p:nvCxnSpPr>
        <p:spPr>
          <a:xfrm>
            <a:off x="6572248" y="2229371"/>
            <a:ext cx="914402" cy="6661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8EDE01A-ADA2-E370-4A11-B3AEA45DD941}"/>
              </a:ext>
            </a:extLst>
          </p:cNvPr>
          <p:cNvSpPr/>
          <p:nvPr/>
        </p:nvSpPr>
        <p:spPr>
          <a:xfrm>
            <a:off x="9688285" y="1484918"/>
            <a:ext cx="1153886" cy="1502227"/>
          </a:xfrm>
          <a:prstGeom prst="rect">
            <a:avLst/>
          </a:pr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 validation of Control tables </a:t>
            </a:r>
            <a:b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Daily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071EA0-350C-FCB1-194F-524F844BD3A6}"/>
              </a:ext>
            </a:extLst>
          </p:cNvPr>
          <p:cNvSpPr txBox="1"/>
          <p:nvPr/>
        </p:nvSpPr>
        <p:spPr>
          <a:xfrm>
            <a:off x="2511494" y="1921631"/>
            <a:ext cx="5660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black"/>
                </a:solidFill>
                <a:latin typeface="Aptos" panose="02110004020202020204"/>
              </a:rPr>
              <a:t>Daily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544641-CE47-B948-5700-8338634F3763}"/>
              </a:ext>
            </a:extLst>
          </p:cNvPr>
          <p:cNvSpPr txBox="1"/>
          <p:nvPr/>
        </p:nvSpPr>
        <p:spPr>
          <a:xfrm>
            <a:off x="6652971" y="1873596"/>
            <a:ext cx="555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black"/>
                </a:solidFill>
                <a:latin typeface="Aptos" panose="02110004020202020204"/>
              </a:rPr>
              <a:t>Daily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7E22AE9-0408-88D1-3AAA-53F39B79B2C7}"/>
              </a:ext>
            </a:extLst>
          </p:cNvPr>
          <p:cNvSpPr/>
          <p:nvPr/>
        </p:nvSpPr>
        <p:spPr>
          <a:xfrm>
            <a:off x="9688286" y="4021293"/>
            <a:ext cx="1153886" cy="1502227"/>
          </a:xfrm>
          <a:prstGeom prst="rect">
            <a:avLst/>
          </a:pr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PCG DWH Merge job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EF29FC-D53A-5C8C-0175-E1DBB94DA8A1}"/>
              </a:ext>
            </a:extLst>
          </p:cNvPr>
          <p:cNvSpPr/>
          <p:nvPr/>
        </p:nvSpPr>
        <p:spPr>
          <a:xfrm>
            <a:off x="7486650" y="4021293"/>
            <a:ext cx="1153886" cy="1502227"/>
          </a:xfrm>
          <a:prstGeom prst="rect">
            <a:avLst/>
          </a:pr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Post Validation Daily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E710A63-055D-07F7-A6DC-463F162213E8}"/>
              </a:ext>
            </a:extLst>
          </p:cNvPr>
          <p:cNvSpPr/>
          <p:nvPr/>
        </p:nvSpPr>
        <p:spPr>
          <a:xfrm>
            <a:off x="5491833" y="4021293"/>
            <a:ext cx="1153886" cy="1502227"/>
          </a:xfrm>
          <a:prstGeom prst="rect">
            <a:avLst/>
          </a:pr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PCG DWH to DMDM Safelite load job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BD07E08-5B4C-B02B-2409-2E4E6D57B662}"/>
              </a:ext>
            </a:extLst>
          </p:cNvPr>
          <p:cNvCxnSpPr>
            <a:stCxn id="37" idx="1"/>
            <a:endCxn id="38" idx="3"/>
          </p:cNvCxnSpPr>
          <p:nvPr/>
        </p:nvCxnSpPr>
        <p:spPr>
          <a:xfrm flipH="1">
            <a:off x="8640536" y="4772407"/>
            <a:ext cx="1047750" cy="0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BDE910C-69DE-9CD2-ECEB-36C377201CAF}"/>
              </a:ext>
            </a:extLst>
          </p:cNvPr>
          <p:cNvCxnSpPr>
            <a:stCxn id="38" idx="1"/>
            <a:endCxn id="39" idx="3"/>
          </p:cNvCxnSpPr>
          <p:nvPr/>
        </p:nvCxnSpPr>
        <p:spPr>
          <a:xfrm flipH="1">
            <a:off x="6645719" y="4772407"/>
            <a:ext cx="840931" cy="0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515975F-B3FC-6E1B-37FE-DD0E44E7C998}"/>
              </a:ext>
            </a:extLst>
          </p:cNvPr>
          <p:cNvSpPr txBox="1"/>
          <p:nvPr/>
        </p:nvSpPr>
        <p:spPr>
          <a:xfrm>
            <a:off x="500743" y="3463683"/>
            <a:ext cx="4691742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Create Autosys job at AIG side to run everyday with dependency on DC or CIP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Modify Autosys schedule from Monthly to Daily at PCS DWH with dependency on INSTANDA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BAU need to monitor validation emails everyday to avoid any failure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Two ETL job change is required to consider INSTANDA SOURCE_SYSTEM_SK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DMDM_DAILY_SEQ_CIP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SAFELITE_AU_COV_EDW_TO_DMDM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lang="en-US" sz="1400" dirty="0">
              <a:solidFill>
                <a:prstClr val="black"/>
              </a:solidFill>
              <a:latin typeface="Aptos" panose="02110004020202020204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4187740-A756-7371-1F7A-A565F10AE688}"/>
              </a:ext>
            </a:extLst>
          </p:cNvPr>
          <p:cNvCxnSpPr>
            <a:stCxn id="32" idx="3"/>
            <a:endCxn id="34" idx="1"/>
          </p:cNvCxnSpPr>
          <p:nvPr/>
        </p:nvCxnSpPr>
        <p:spPr>
          <a:xfrm>
            <a:off x="8640536" y="2236032"/>
            <a:ext cx="1047749" cy="0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2B15F67-E04D-CB64-1CE4-E28E2008E9F8}"/>
              </a:ext>
            </a:extLst>
          </p:cNvPr>
          <p:cNvCxnSpPr>
            <a:stCxn id="34" idx="2"/>
            <a:endCxn id="37" idx="0"/>
          </p:cNvCxnSpPr>
          <p:nvPr/>
        </p:nvCxnSpPr>
        <p:spPr>
          <a:xfrm>
            <a:off x="10265228" y="2987145"/>
            <a:ext cx="1" cy="1034148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83DA945-CB8C-CF28-908D-635AE31C9604}"/>
              </a:ext>
            </a:extLst>
          </p:cNvPr>
          <p:cNvSpPr txBox="1"/>
          <p:nvPr/>
        </p:nvSpPr>
        <p:spPr>
          <a:xfrm>
            <a:off x="1075863" y="1280475"/>
            <a:ext cx="12763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PCS DWH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A4FA2F-1088-06E4-B086-E4429A2F41EE}"/>
              </a:ext>
            </a:extLst>
          </p:cNvPr>
          <p:cNvSpPr txBox="1"/>
          <p:nvPr/>
        </p:nvSpPr>
        <p:spPr>
          <a:xfrm>
            <a:off x="8718772" y="3300998"/>
            <a:ext cx="12763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PCG DWH</a:t>
            </a:r>
          </a:p>
        </p:txBody>
      </p:sp>
    </p:spTree>
    <p:extLst>
      <p:ext uri="{BB962C8B-B14F-4D97-AF65-F5344CB8AC3E}">
        <p14:creationId xmlns:p14="http://schemas.microsoft.com/office/powerpoint/2010/main" val="2004954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85897-50EC-C946-5F16-3DDE84AD9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4">
            <a:extLst>
              <a:ext uri="{FF2B5EF4-FFF2-40B4-BE49-F238E27FC236}">
                <a16:creationId xmlns:a16="http://schemas.microsoft.com/office/drawing/2014/main" id="{B1AA9AFA-429A-B153-F060-F940CE0DB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423063"/>
            <a:ext cx="6533606" cy="535224"/>
          </a:xfrm>
        </p:spPr>
        <p:txBody>
          <a:bodyPr anchor="t"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Option- 05: Design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A2F168-E778-7BA9-0CC3-2BE1C8261B45}"/>
              </a:ext>
            </a:extLst>
          </p:cNvPr>
          <p:cNvSpPr/>
          <p:nvPr/>
        </p:nvSpPr>
        <p:spPr>
          <a:xfrm>
            <a:off x="8047263" y="1162790"/>
            <a:ext cx="3113322" cy="4394634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3D9AB3-9CC1-9C39-3A2B-C741F4310D63}"/>
              </a:ext>
            </a:extLst>
          </p:cNvPr>
          <p:cNvSpPr/>
          <p:nvPr/>
        </p:nvSpPr>
        <p:spPr>
          <a:xfrm>
            <a:off x="489852" y="1162790"/>
            <a:ext cx="4259041" cy="2142067"/>
          </a:xfrm>
          <a:prstGeom prst="rect">
            <a:avLst/>
          </a:prstGeom>
          <a:solidFill>
            <a:srgbClr val="E8E8E8">
              <a:lumMod val="90000"/>
            </a:srgbClr>
          </a:solidFill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AF541C-623C-C80C-D278-2049BB4571A1}"/>
              </a:ext>
            </a:extLst>
          </p:cNvPr>
          <p:cNvSpPr/>
          <p:nvPr/>
        </p:nvSpPr>
        <p:spPr>
          <a:xfrm>
            <a:off x="938894" y="1587665"/>
            <a:ext cx="1480457" cy="1188720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TPOLICY</a:t>
            </a:r>
            <a:b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TVEHICLE</a:t>
            </a:r>
            <a:b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TAUTOCOVERAGE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11AC40-8B11-464D-B918-1AEFB45D7A79}"/>
              </a:ext>
            </a:extLst>
          </p:cNvPr>
          <p:cNvSpPr/>
          <p:nvPr/>
        </p:nvSpPr>
        <p:spPr>
          <a:xfrm>
            <a:off x="3306537" y="1587665"/>
            <a:ext cx="1153886" cy="1188720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Generate File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46F5F1-55C5-C49E-B45D-BD1434BCD0A0}"/>
              </a:ext>
            </a:extLst>
          </p:cNvPr>
          <p:cNvSpPr/>
          <p:nvPr/>
        </p:nvSpPr>
        <p:spPr>
          <a:xfrm>
            <a:off x="6049735" y="1587665"/>
            <a:ext cx="1153886" cy="1188720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FTP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EF2EA5-1F74-C96A-7E7B-64A4BD9C69C5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2419351" y="2182025"/>
            <a:ext cx="887186" cy="0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BF150E0-CB85-41BD-9230-981F30F10BDC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4460423" y="2182025"/>
            <a:ext cx="1589312" cy="0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D9C794D9-04F8-2279-BEC0-D5043E81C9BE}"/>
              </a:ext>
            </a:extLst>
          </p:cNvPr>
          <p:cNvSpPr/>
          <p:nvPr/>
        </p:nvSpPr>
        <p:spPr>
          <a:xfrm>
            <a:off x="8890905" y="1587665"/>
            <a:ext cx="1153886" cy="1188720"/>
          </a:xfrm>
          <a:prstGeom prst="rect">
            <a:avLst/>
          </a:pr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PCG DS Landing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DF7CAD7-21A4-CB72-BAD8-7F80178E109F}"/>
              </a:ext>
            </a:extLst>
          </p:cNvPr>
          <p:cNvCxnSpPr>
            <a:stCxn id="23" idx="3"/>
            <a:endCxn id="48" idx="1"/>
          </p:cNvCxnSpPr>
          <p:nvPr/>
        </p:nvCxnSpPr>
        <p:spPr>
          <a:xfrm>
            <a:off x="7203621" y="2182025"/>
            <a:ext cx="1687284" cy="0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529F6F4-7B8D-E0D3-3FB0-7DBE3B6EAB76}"/>
              </a:ext>
            </a:extLst>
          </p:cNvPr>
          <p:cNvSpPr/>
          <p:nvPr/>
        </p:nvSpPr>
        <p:spPr>
          <a:xfrm>
            <a:off x="8167006" y="3866929"/>
            <a:ext cx="2601685" cy="1306284"/>
          </a:xfrm>
          <a:prstGeom prst="rect">
            <a:avLst/>
          </a:pr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New DataStage DMDM job</a:t>
            </a:r>
            <a:b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TSAFELITE_AUTO_COVERAGE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3A63073-2C29-294E-0D55-0D56F3AC33ED}"/>
              </a:ext>
            </a:extLst>
          </p:cNvPr>
          <p:cNvCxnSpPr>
            <a:cxnSpLocks/>
            <a:stCxn id="48" idx="2"/>
            <a:endCxn id="50" idx="0"/>
          </p:cNvCxnSpPr>
          <p:nvPr/>
        </p:nvCxnSpPr>
        <p:spPr>
          <a:xfrm>
            <a:off x="9467848" y="2776385"/>
            <a:ext cx="1" cy="1090544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D5348FC-DC1E-B11F-90BA-AB0E30884113}"/>
              </a:ext>
            </a:extLst>
          </p:cNvPr>
          <p:cNvSpPr txBox="1"/>
          <p:nvPr/>
        </p:nvSpPr>
        <p:spPr>
          <a:xfrm>
            <a:off x="2579915" y="1946972"/>
            <a:ext cx="5660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black"/>
                </a:solidFill>
                <a:latin typeface="Aptos" panose="02110004020202020204"/>
              </a:rPr>
              <a:t>Daily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0E4947B-9A1F-4E44-1D6E-8706A5D8071B}"/>
              </a:ext>
            </a:extLst>
          </p:cNvPr>
          <p:cNvSpPr txBox="1"/>
          <p:nvPr/>
        </p:nvSpPr>
        <p:spPr>
          <a:xfrm>
            <a:off x="7407728" y="1873725"/>
            <a:ext cx="555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black"/>
                </a:solidFill>
                <a:latin typeface="Aptos" panose="02110004020202020204"/>
              </a:rPr>
              <a:t>Daily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25B3D8C-C7A4-ADF4-A2DD-C6A8F6E25731}"/>
              </a:ext>
            </a:extLst>
          </p:cNvPr>
          <p:cNvSpPr txBox="1"/>
          <p:nvPr/>
        </p:nvSpPr>
        <p:spPr>
          <a:xfrm>
            <a:off x="1031415" y="3642908"/>
            <a:ext cx="69342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Total 6 ETL jobs is to be build, 3 at PCS DWH and 3 at PCG DWH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Extract job using existing DMDM source query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Control file script to capture record count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Sequence job to generate extract and control file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Load job to update data into TSAFELITE_AUTO_COVERAGE table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Record count validation script before loading into table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Sequence job for the orchestration and execution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Autosys job and schedule to run Daily in PCS with dependency on INSTANDA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New MFT job to transfer files from PCS to AIG Daily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E169FE1-AF65-709F-79D1-F65B9928AD9E}"/>
              </a:ext>
            </a:extLst>
          </p:cNvPr>
          <p:cNvSpPr txBox="1"/>
          <p:nvPr/>
        </p:nvSpPr>
        <p:spPr>
          <a:xfrm>
            <a:off x="857850" y="1196044"/>
            <a:ext cx="12763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PCS DWH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3191EC4-517E-27CD-CFDD-7DDD871B98F9}"/>
              </a:ext>
            </a:extLst>
          </p:cNvPr>
          <p:cNvSpPr txBox="1"/>
          <p:nvPr/>
        </p:nvSpPr>
        <p:spPr>
          <a:xfrm>
            <a:off x="10130513" y="3090358"/>
            <a:ext cx="12763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prstClr val="black"/>
                </a:solidFill>
                <a:latin typeface="Aptos" panose="02110004020202020204"/>
              </a:rPr>
              <a:t>PCG DWH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F69258A-BD81-5906-7AC6-87B87FF44B7B}"/>
              </a:ext>
            </a:extLst>
          </p:cNvPr>
          <p:cNvSpPr txBox="1"/>
          <p:nvPr/>
        </p:nvSpPr>
        <p:spPr>
          <a:xfrm>
            <a:off x="4852307" y="1946972"/>
            <a:ext cx="5660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black"/>
                </a:solidFill>
                <a:latin typeface="Aptos" panose="02110004020202020204"/>
              </a:rPr>
              <a:t>Daily</a:t>
            </a:r>
          </a:p>
        </p:txBody>
      </p:sp>
    </p:spTree>
    <p:extLst>
      <p:ext uri="{BB962C8B-B14F-4D97-AF65-F5344CB8AC3E}">
        <p14:creationId xmlns:p14="http://schemas.microsoft.com/office/powerpoint/2010/main" val="3266209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BB297-5661-62C4-ECCF-345B5A1F3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96C17D4D-3182-027F-7184-89107E62C1E9}"/>
              </a:ext>
            </a:extLst>
          </p:cNvPr>
          <p:cNvSpPr/>
          <p:nvPr/>
        </p:nvSpPr>
        <p:spPr>
          <a:xfrm>
            <a:off x="1531344" y="1201253"/>
            <a:ext cx="6838056" cy="2664092"/>
          </a:xfrm>
          <a:prstGeom prst="rect">
            <a:avLst/>
          </a:prstGeom>
          <a:solidFill>
            <a:srgbClr val="E8E8E8">
              <a:lumMod val="90000"/>
            </a:srgbClr>
          </a:solidFill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5" name="Title 4">
            <a:extLst>
              <a:ext uri="{FF2B5EF4-FFF2-40B4-BE49-F238E27FC236}">
                <a16:creationId xmlns:a16="http://schemas.microsoft.com/office/drawing/2014/main" id="{9E408706-7FB2-B9C2-5EC1-2411F08E9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" y="423063"/>
            <a:ext cx="6533606" cy="283143"/>
          </a:xfrm>
        </p:spPr>
        <p:txBody>
          <a:bodyPr anchor="t"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Option- 05: Design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E0371D-4ADA-0E24-B21A-0A2D67B80FB9}"/>
              </a:ext>
            </a:extLst>
          </p:cNvPr>
          <p:cNvSpPr/>
          <p:nvPr/>
        </p:nvSpPr>
        <p:spPr>
          <a:xfrm>
            <a:off x="4347957" y="1384648"/>
            <a:ext cx="1389733" cy="2278235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US" sz="1400" dirty="0">
                <a:latin typeface="Aptos" panose="020B0004020202020204" pitchFamily="34" charset="0"/>
              </a:rPr>
              <a:t>Extract INSTANDA data from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TPOLICY</a:t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</a:b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TVEHICLE</a:t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</a:b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TAUTOCOVERAGE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4E1641-13BF-DD2F-6499-10F708EAE7E2}"/>
              </a:ext>
            </a:extLst>
          </p:cNvPr>
          <p:cNvSpPr/>
          <p:nvPr/>
        </p:nvSpPr>
        <p:spPr>
          <a:xfrm>
            <a:off x="6911592" y="1938939"/>
            <a:ext cx="1153886" cy="1188720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Generate File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C6AB47-40B3-7D47-98E1-B35AAF3F31CF}"/>
              </a:ext>
            </a:extLst>
          </p:cNvPr>
          <p:cNvSpPr/>
          <p:nvPr/>
        </p:nvSpPr>
        <p:spPr>
          <a:xfrm>
            <a:off x="9239380" y="1938939"/>
            <a:ext cx="1153886" cy="1188720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FTP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D713D91-D554-7F4C-9EB5-6700E558B7E8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5737690" y="2523766"/>
            <a:ext cx="1173902" cy="9533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8A512D8-0A04-B9DD-AC78-42A3C167EB55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8065478" y="2533299"/>
            <a:ext cx="1173902" cy="0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6B84426-73BA-235E-D9F6-F0433F67A21E}"/>
              </a:ext>
            </a:extLst>
          </p:cNvPr>
          <p:cNvSpPr txBox="1"/>
          <p:nvPr/>
        </p:nvSpPr>
        <p:spPr>
          <a:xfrm>
            <a:off x="6051621" y="2262156"/>
            <a:ext cx="5660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black"/>
                </a:solidFill>
                <a:latin typeface="Aptos" panose="02110004020202020204"/>
              </a:rPr>
              <a:t>Daily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2C220F-214B-5433-B065-AC44B8087DDE}"/>
              </a:ext>
            </a:extLst>
          </p:cNvPr>
          <p:cNvSpPr txBox="1"/>
          <p:nvPr/>
        </p:nvSpPr>
        <p:spPr>
          <a:xfrm>
            <a:off x="8369400" y="2262155"/>
            <a:ext cx="5660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black"/>
                </a:solidFill>
                <a:latin typeface="Aptos" panose="02110004020202020204"/>
              </a:rPr>
              <a:t>Daily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EF11AE-ED5B-6096-FAF8-BD266F956E9A}"/>
              </a:ext>
            </a:extLst>
          </p:cNvPr>
          <p:cNvSpPr txBox="1"/>
          <p:nvPr/>
        </p:nvSpPr>
        <p:spPr>
          <a:xfrm>
            <a:off x="1150025" y="4179027"/>
            <a:ext cx="989194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Data is Extracted Daily from TPOLICY, TVEHICLE, TAUTOCOVERAGE in PCS DWH using existing DMDM source query. </a:t>
            </a:r>
          </a:p>
          <a:p>
            <a:pPr>
              <a:defRPr/>
            </a:pPr>
            <a:endParaRPr lang="en-US" sz="1600" dirty="0">
              <a:solidFill>
                <a:prstClr val="black"/>
              </a:solidFill>
              <a:latin typeface="Aptos" panose="02110004020202020204"/>
            </a:endParaRPr>
          </a:p>
          <a:p>
            <a:pPr>
              <a:defRPr/>
            </a:pPr>
            <a:endParaRPr lang="en-US" sz="1600" dirty="0">
              <a:solidFill>
                <a:prstClr val="black"/>
              </a:solidFill>
              <a:latin typeface="Aptos" panose="02110004020202020204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Sequence Job to generate extract and control files SAFELITE_$FILEDATE.txt (Data  Records File) and SAFELITE_RECORDCOUNT_$FILEDATE.txt (Record Count File).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These Files are the zipped and sent to AIG FTP server using MFT job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Autosys job and schedule to run Daily in PCS with dependency on INSTANDA.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3AC6F8-F99A-7598-F9EC-03D5EACD779E}"/>
              </a:ext>
            </a:extLst>
          </p:cNvPr>
          <p:cNvSpPr/>
          <p:nvPr/>
        </p:nvSpPr>
        <p:spPr>
          <a:xfrm>
            <a:off x="1820768" y="1929405"/>
            <a:ext cx="1480457" cy="1188720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black"/>
                </a:solidFill>
                <a:latin typeface="Aptos" panose="02110004020202020204"/>
              </a:rPr>
              <a:t>PCS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black"/>
                </a:solidFill>
                <a:latin typeface="Aptos" panose="02110004020202020204"/>
              </a:rPr>
              <a:t>DWH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763C4E5-CE59-39AB-DEFC-7D4D4E96AE8C}"/>
              </a:ext>
            </a:extLst>
          </p:cNvPr>
          <p:cNvCxnSpPr>
            <a:cxnSpLocks/>
            <a:stCxn id="17" idx="3"/>
            <a:endCxn id="21" idx="1"/>
          </p:cNvCxnSpPr>
          <p:nvPr/>
        </p:nvCxnSpPr>
        <p:spPr>
          <a:xfrm>
            <a:off x="3301225" y="2523765"/>
            <a:ext cx="1046732" cy="1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9485557-C4FF-B10A-3CA5-7A7495868D66}"/>
              </a:ext>
            </a:extLst>
          </p:cNvPr>
          <p:cNvSpPr txBox="1"/>
          <p:nvPr/>
        </p:nvSpPr>
        <p:spPr>
          <a:xfrm>
            <a:off x="3588777" y="2262155"/>
            <a:ext cx="5660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black"/>
                </a:solidFill>
                <a:latin typeface="Aptos" panose="02110004020202020204"/>
              </a:rPr>
              <a:t>Daily</a:t>
            </a:r>
          </a:p>
        </p:txBody>
      </p:sp>
      <p:graphicFrame>
        <p:nvGraphicFramePr>
          <p:cNvPr id="37" name="Object 36">
            <a:extLst>
              <a:ext uri="{FF2B5EF4-FFF2-40B4-BE49-F238E27FC236}">
                <a16:creationId xmlns:a16="http://schemas.microsoft.com/office/drawing/2014/main" id="{8AE1A9B5-8F78-4811-2A2C-CA5669E69F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256767"/>
              </p:ext>
            </p:extLst>
          </p:nvPr>
        </p:nvGraphicFramePr>
        <p:xfrm>
          <a:off x="2306160" y="4529238"/>
          <a:ext cx="1848674" cy="774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3" imgW="1257352" imgH="527027" progId="Package">
                  <p:embed/>
                </p:oleObj>
              </mc:Choice>
              <mc:Fallback>
                <p:oleObj name="Packager Shell Object" showAsIcon="1" r:id="rId3" imgW="1257352" imgH="527027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06160" y="4529238"/>
                        <a:ext cx="1848674" cy="7749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4616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82BE9-04EF-B0CE-7178-60270A7EF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A80F56A-4E2A-87B4-BBCF-14B8CBF52117}"/>
              </a:ext>
            </a:extLst>
          </p:cNvPr>
          <p:cNvSpPr/>
          <p:nvPr/>
        </p:nvSpPr>
        <p:spPr>
          <a:xfrm>
            <a:off x="2910262" y="1280373"/>
            <a:ext cx="8601330" cy="2410052"/>
          </a:xfrm>
          <a:prstGeom prst="rect">
            <a:avLst/>
          </a:prstGeom>
          <a:solidFill>
            <a:srgbClr val="E8E8E8">
              <a:lumMod val="90000"/>
            </a:srgbClr>
          </a:solidFill>
          <a:ln w="19050" cap="flat" cmpd="sng" algn="ctr">
            <a:solidFill>
              <a:srgbClr val="1560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5" name="Title 4">
            <a:extLst>
              <a:ext uri="{FF2B5EF4-FFF2-40B4-BE49-F238E27FC236}">
                <a16:creationId xmlns:a16="http://schemas.microsoft.com/office/drawing/2014/main" id="{3C554B1E-43E7-B1A7-BE51-84F37BF40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866" y="588316"/>
            <a:ext cx="6533606" cy="535224"/>
          </a:xfrm>
        </p:spPr>
        <p:txBody>
          <a:bodyPr anchor="t"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Option- 05: Design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26D27D-AF20-E3CA-A180-CC3F4119C289}"/>
              </a:ext>
            </a:extLst>
          </p:cNvPr>
          <p:cNvSpPr txBox="1"/>
          <p:nvPr/>
        </p:nvSpPr>
        <p:spPr>
          <a:xfrm>
            <a:off x="1156771" y="3921258"/>
            <a:ext cx="103548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The zipped data archive is received daily from PCS FTP server and staged at PCG DS landing for processing.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Record count validation script compares:</a:t>
            </a:r>
            <a:endParaRPr lang="en-US" sz="1600" dirty="0">
              <a:latin typeface="Aptos" panose="020B0004020202020204" pitchFamily="34" charset="0"/>
            </a:endParaRPr>
          </a:p>
          <a:p>
            <a:pPr lvl="1"/>
            <a:r>
              <a:rPr lang="en-US" sz="1600" dirty="0">
                <a:latin typeface="Aptos" panose="020B0004020202020204" pitchFamily="34" charset="0"/>
              </a:rPr>
              <a:t>The expected record count (from the control file)</a:t>
            </a:r>
          </a:p>
          <a:p>
            <a:pPr lvl="1"/>
            <a:r>
              <a:rPr lang="en-US" sz="1600" dirty="0">
                <a:latin typeface="Aptos" panose="020B0004020202020204" pitchFamily="34" charset="0"/>
              </a:rPr>
              <a:t>The actual number of records in the data file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If validation fails:</a:t>
            </a:r>
            <a:endParaRPr lang="en-US" sz="1600" dirty="0">
              <a:latin typeface="Aptos" panose="020B0004020202020204" pitchFamily="34" charset="0"/>
            </a:endParaRPr>
          </a:p>
          <a:p>
            <a:pPr lvl="1"/>
            <a:r>
              <a:rPr lang="en-US" sz="1600" dirty="0">
                <a:latin typeface="Aptos" panose="020B0004020202020204" pitchFamily="34" charset="0"/>
              </a:rPr>
              <a:t>An automated email notification with expected and actual record counts is sent to the support team.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Load job to update data into TSAFELITE_AUTO_COVERAGE table using </a:t>
            </a:r>
            <a:r>
              <a:rPr lang="en-US" sz="1600" dirty="0" err="1">
                <a:solidFill>
                  <a:prstClr val="black"/>
                </a:solidFill>
                <a:latin typeface="Aptos" panose="02110004020202020204"/>
              </a:rPr>
              <a:t>upsert</a:t>
            </a:r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 mode.</a:t>
            </a:r>
            <a:endParaRPr lang="en-US" sz="1600" dirty="0">
              <a:latin typeface="Aptos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Sequence job orchestrates the validation and data loading steps.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Workflow is scheduled and managed daily using Autosys for automation and reliability.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2645829-1C52-E16E-9439-3253106BC671}"/>
              </a:ext>
            </a:extLst>
          </p:cNvPr>
          <p:cNvSpPr txBox="1"/>
          <p:nvPr/>
        </p:nvSpPr>
        <p:spPr>
          <a:xfrm>
            <a:off x="6687272" y="3396421"/>
            <a:ext cx="1276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400" dirty="0">
                <a:solidFill>
                  <a:prstClr val="black"/>
                </a:solidFill>
                <a:latin typeface="Aptos" panose="02110004020202020204"/>
              </a:rPr>
              <a:t>PCG DWH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C2AB63-20CE-9F7E-2CF0-49595FFE99B2}"/>
              </a:ext>
            </a:extLst>
          </p:cNvPr>
          <p:cNvSpPr/>
          <p:nvPr/>
        </p:nvSpPr>
        <p:spPr>
          <a:xfrm>
            <a:off x="1044394" y="1832257"/>
            <a:ext cx="1212003" cy="1306284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FTP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614E4E2-F7CB-C64B-0642-9EEC4E93730B}"/>
              </a:ext>
            </a:extLst>
          </p:cNvPr>
          <p:cNvCxnSpPr>
            <a:cxnSpLocks/>
            <a:stCxn id="7" idx="3"/>
            <a:endCxn id="41" idx="1"/>
          </p:cNvCxnSpPr>
          <p:nvPr/>
        </p:nvCxnSpPr>
        <p:spPr>
          <a:xfrm>
            <a:off x="2256397" y="2485399"/>
            <a:ext cx="1028266" cy="0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2F32CAD-1D41-0D81-54A3-08C9562B0543}"/>
              </a:ext>
            </a:extLst>
          </p:cNvPr>
          <p:cNvSpPr txBox="1"/>
          <p:nvPr/>
        </p:nvSpPr>
        <p:spPr>
          <a:xfrm>
            <a:off x="2389817" y="2239070"/>
            <a:ext cx="5660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black"/>
                </a:solidFill>
                <a:latin typeface="Aptos" panose="02110004020202020204"/>
              </a:rPr>
              <a:t>Daily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FD8577-559E-DE16-2041-875FFA5AF226}"/>
              </a:ext>
            </a:extLst>
          </p:cNvPr>
          <p:cNvCxnSpPr>
            <a:cxnSpLocks/>
            <a:stCxn id="41" idx="3"/>
            <a:endCxn id="40" idx="1"/>
          </p:cNvCxnSpPr>
          <p:nvPr/>
        </p:nvCxnSpPr>
        <p:spPr>
          <a:xfrm>
            <a:off x="4508298" y="2485399"/>
            <a:ext cx="713331" cy="0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D668854-7819-0A7C-3A84-7E51527383EA}"/>
              </a:ext>
            </a:extLst>
          </p:cNvPr>
          <p:cNvSpPr txBox="1"/>
          <p:nvPr/>
        </p:nvSpPr>
        <p:spPr>
          <a:xfrm>
            <a:off x="4575052" y="2244556"/>
            <a:ext cx="5660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black"/>
                </a:solidFill>
                <a:latin typeface="Aptos" panose="02110004020202020204"/>
              </a:rPr>
              <a:t>Daily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7755649-130C-52D8-583B-E9FC0E5947AE}"/>
              </a:ext>
            </a:extLst>
          </p:cNvPr>
          <p:cNvCxnSpPr>
            <a:cxnSpLocks/>
            <a:stCxn id="40" idx="3"/>
            <a:endCxn id="37" idx="1"/>
          </p:cNvCxnSpPr>
          <p:nvPr/>
        </p:nvCxnSpPr>
        <p:spPr>
          <a:xfrm>
            <a:off x="7823313" y="2485399"/>
            <a:ext cx="641190" cy="0"/>
          </a:xfrm>
          <a:prstGeom prst="straightConnector1">
            <a:avLst/>
          </a:prstGeom>
          <a:noFill/>
          <a:ln w="1905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73EB3F3-8F37-2ED5-8E69-76AC1C888B12}"/>
              </a:ext>
            </a:extLst>
          </p:cNvPr>
          <p:cNvSpPr txBox="1"/>
          <p:nvPr/>
        </p:nvSpPr>
        <p:spPr>
          <a:xfrm>
            <a:off x="7860879" y="2239070"/>
            <a:ext cx="5660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prstClr val="black"/>
                </a:solidFill>
                <a:latin typeface="Aptos" panose="02110004020202020204"/>
              </a:rPr>
              <a:t>Daily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0C3676C-19FD-ECDD-AB98-D5188FC8FEDE}"/>
              </a:ext>
            </a:extLst>
          </p:cNvPr>
          <p:cNvSpPr/>
          <p:nvPr/>
        </p:nvSpPr>
        <p:spPr>
          <a:xfrm>
            <a:off x="8464503" y="1832257"/>
            <a:ext cx="2601685" cy="1306284"/>
          </a:xfrm>
          <a:prstGeom prst="rect">
            <a:avLst/>
          </a:pr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New DataStage DMDM job</a:t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TSAFELITE_AUTO_COVERAGE</a:t>
            </a:r>
          </a:p>
        </p:txBody>
      </p:sp>
      <p:sp>
        <p:nvSpPr>
          <p:cNvPr id="40" name="Diamond 39">
            <a:extLst>
              <a:ext uri="{FF2B5EF4-FFF2-40B4-BE49-F238E27FC236}">
                <a16:creationId xmlns:a16="http://schemas.microsoft.com/office/drawing/2014/main" id="{8D2BE225-5969-63DF-F99A-DE0E3466CBA8}"/>
              </a:ext>
            </a:extLst>
          </p:cNvPr>
          <p:cNvSpPr/>
          <p:nvPr/>
        </p:nvSpPr>
        <p:spPr>
          <a:xfrm>
            <a:off x="5221629" y="1659469"/>
            <a:ext cx="2601684" cy="1651859"/>
          </a:xfrm>
          <a:prstGeom prst="diamond">
            <a:avLst/>
          </a:prstGeom>
          <a:gradFill flip="none" rotWithShape="1">
            <a:gsLst>
              <a:gs pos="0">
                <a:schemeClr val="accent3">
                  <a:lumMod val="75000"/>
                  <a:tint val="66000"/>
                  <a:satMod val="160000"/>
                </a:schemeClr>
              </a:gs>
              <a:gs pos="50000">
                <a:schemeClr val="accent3">
                  <a:lumMod val="75000"/>
                  <a:tint val="44500"/>
                  <a:satMod val="160000"/>
                </a:schemeClr>
              </a:gs>
              <a:gs pos="100000">
                <a:schemeClr val="accent3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PRE-VALIDATION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Record Count check</a:t>
            </a:r>
            <a:endParaRPr lang="en-US" sz="14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A8CF892-8F0A-1496-D5C6-15362E44D27A}"/>
              </a:ext>
            </a:extLst>
          </p:cNvPr>
          <p:cNvSpPr/>
          <p:nvPr/>
        </p:nvSpPr>
        <p:spPr>
          <a:xfrm>
            <a:off x="3284663" y="1832257"/>
            <a:ext cx="1223635" cy="1306284"/>
          </a:xfrm>
          <a:prstGeom prst="rect">
            <a:avLst/>
          </a:pr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solidFill>
              <a:srgbClr val="4EA72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PCG DS Landing</a:t>
            </a:r>
          </a:p>
        </p:txBody>
      </p:sp>
    </p:spTree>
    <p:extLst>
      <p:ext uri="{BB962C8B-B14F-4D97-AF65-F5344CB8AC3E}">
        <p14:creationId xmlns:p14="http://schemas.microsoft.com/office/powerpoint/2010/main" val="4150139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9F03E-1426-03E3-2C4D-B43FA2C8D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881ED1-6871-D8C6-22CB-3B0063829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Non-Functional Requirements.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E276D6-A996-1E67-881C-A12C923EA1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442308"/>
              </p:ext>
            </p:extLst>
          </p:nvPr>
        </p:nvGraphicFramePr>
        <p:xfrm>
          <a:off x="752819" y="914401"/>
          <a:ext cx="10686361" cy="53211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3083">
                  <a:extLst>
                    <a:ext uri="{9D8B030D-6E8A-4147-A177-3AD203B41FA5}">
                      <a16:colId xmlns:a16="http://schemas.microsoft.com/office/drawing/2014/main" val="4038735929"/>
                    </a:ext>
                  </a:extLst>
                </a:gridCol>
                <a:gridCol w="3960679">
                  <a:extLst>
                    <a:ext uri="{9D8B030D-6E8A-4147-A177-3AD203B41FA5}">
                      <a16:colId xmlns:a16="http://schemas.microsoft.com/office/drawing/2014/main" val="3006293245"/>
                    </a:ext>
                  </a:extLst>
                </a:gridCol>
                <a:gridCol w="4812599">
                  <a:extLst>
                    <a:ext uri="{9D8B030D-6E8A-4147-A177-3AD203B41FA5}">
                      <a16:colId xmlns:a16="http://schemas.microsoft.com/office/drawing/2014/main" val="3042942068"/>
                    </a:ext>
                  </a:extLst>
                </a:gridCol>
              </a:tblGrid>
              <a:tr h="3124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Type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Agreed Approach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Notes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17182157"/>
                  </a:ext>
                </a:extLst>
              </a:tr>
              <a:tr h="3124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SFTP Location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Yet to be determine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84157527"/>
                  </a:ext>
                </a:extLst>
              </a:tr>
              <a:tr h="3124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No of Files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 zipped file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46713538"/>
                  </a:ext>
                </a:extLst>
              </a:tr>
              <a:tr h="12499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File Formats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delimited format, ~ field separate with no quotes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DOS2 Unix conversion may require, placeholder for now</a:t>
                      </a:r>
                      <a:br>
                        <a:rPr lang="en-US" sz="1400" u="none" strike="noStrike">
                          <a:effectLst/>
                        </a:rPr>
                      </a:br>
                      <a:r>
                        <a:rPr lang="en-US" sz="1400" u="none" strike="noStrike">
                          <a:effectLst/>
                        </a:rPr>
                        <a:t>5/2- </a:t>
                      </a:r>
                      <a:br>
                        <a:rPr lang="en-US" sz="1400" u="none" strike="noStrike">
                          <a:effectLst/>
                        </a:rPr>
                      </a:br>
                      <a:r>
                        <a:rPr lang="en-US" sz="1400" u="none" strike="noStrike">
                          <a:effectLst/>
                        </a:rPr>
                        <a:t>Tilda ('~') delimited.</a:t>
                      </a:r>
                      <a:br>
                        <a:rPr lang="en-US" sz="1400" u="none" strike="noStrike">
                          <a:effectLst/>
                        </a:rPr>
                      </a:br>
                      <a:r>
                        <a:rPr lang="en-US" sz="1400" u="none" strike="noStrike">
                          <a:effectLst/>
                        </a:rPr>
                        <a:t>DOS2 Unix is not required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03541163"/>
                  </a:ext>
                </a:extLst>
              </a:tr>
              <a:tr h="6792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Code Page settings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UTF-8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5/2</a:t>
                      </a:r>
                      <a:br>
                        <a:rPr lang="en-US" sz="1400" u="none" strike="noStrike">
                          <a:effectLst/>
                        </a:rPr>
                      </a:br>
                      <a:r>
                        <a:rPr lang="en-US" sz="1400" u="none" strike="noStrike">
                          <a:effectLst/>
                        </a:rPr>
                        <a:t>Project default is UTF-8. No need to change the framework job.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69340168"/>
                  </a:ext>
                </a:extLst>
              </a:tr>
              <a:tr h="3124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Header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Header Included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9663323"/>
                  </a:ext>
                </a:extLst>
              </a:tr>
              <a:tr h="3124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Compressed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zip or 7zip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.zip format with GPG encryption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23055075"/>
                  </a:ext>
                </a:extLst>
              </a:tr>
              <a:tr h="5797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Control/Reconcilation Files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Row Count File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6872945"/>
                  </a:ext>
                </a:extLst>
              </a:tr>
              <a:tr h="3124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Expection Handling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Adhoc Mode incase of any failure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51061343"/>
                  </a:ext>
                </a:extLst>
              </a:tr>
              <a:tr h="3124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Frequency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Daily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58016130"/>
                  </a:ext>
                </a:extLst>
              </a:tr>
              <a:tr h="3124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Timing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Yet to be determine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1371652"/>
                  </a:ext>
                </a:extLst>
              </a:tr>
              <a:tr h="3124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File Name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SAFELITE_$(FILEDATE).txt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14036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893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._7MwurbSU2yrTWPyVH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5_AIG Master Simple">
  <a:themeElements>
    <a:clrScheme name="AIG Brand Refresh">
      <a:dk1>
        <a:srgbClr val="333333"/>
      </a:dk1>
      <a:lt1>
        <a:sysClr val="window" lastClr="FFFFFF"/>
      </a:lt1>
      <a:dk2>
        <a:srgbClr val="333333"/>
      </a:dk2>
      <a:lt2>
        <a:srgbClr val="FFFFFF"/>
      </a:lt2>
      <a:accent1>
        <a:srgbClr val="001871"/>
      </a:accent1>
      <a:accent2>
        <a:srgbClr val="1352DE"/>
      </a:accent2>
      <a:accent3>
        <a:srgbClr val="C0E7F7"/>
      </a:accent3>
      <a:accent4>
        <a:srgbClr val="00A4E4"/>
      </a:accent4>
      <a:accent5>
        <a:srgbClr val="904FD8"/>
      </a:accent5>
      <a:accent6>
        <a:srgbClr val="00BFB3"/>
      </a:accent6>
      <a:hlink>
        <a:srgbClr val="1352DE"/>
      </a:hlink>
      <a:folHlink>
        <a:srgbClr val="00BFB3"/>
      </a:folHlink>
    </a:clrScheme>
    <a:fontScheme name="AI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E74C3B75356F4A8C72C06208F4ACA7" ma:contentTypeVersion="15" ma:contentTypeDescription="Create a new document." ma:contentTypeScope="" ma:versionID="5355b033b511d7d3ec5a780373ce5359">
  <xsd:schema xmlns:xsd="http://www.w3.org/2001/XMLSchema" xmlns:xs="http://www.w3.org/2001/XMLSchema" xmlns:p="http://schemas.microsoft.com/office/2006/metadata/properties" xmlns:ns3="2f115654-be61-4105-9757-d7bfb2b96f7d" xmlns:ns4="6b9aff2d-c44d-4ca6-b37a-92fa543621bc" targetNamespace="http://schemas.microsoft.com/office/2006/metadata/properties" ma:root="true" ma:fieldsID="dec9c7c42f3866e9d59a8ad706b0176d" ns3:_="" ns4:_="">
    <xsd:import namespace="2f115654-be61-4105-9757-d7bfb2b96f7d"/>
    <xsd:import namespace="6b9aff2d-c44d-4ca6-b37a-92fa543621b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115654-be61-4105-9757-d7bfb2b96f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9aff2d-c44d-4ca6-b37a-92fa543621b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b9aff2d-c44d-4ca6-b37a-92fa543621bc">
      <UserInfo>
        <DisplayName>Thimiri Chandran, Murali</DisplayName>
        <AccountId>28</AccountId>
        <AccountType/>
      </UserInfo>
      <UserInfo>
        <DisplayName>Burke, Erin</DisplayName>
        <AccountId>45</AccountId>
        <AccountType/>
      </UserInfo>
    </SharedWithUsers>
    <_activity xmlns="2f115654-be61-4105-9757-d7bfb2b96f7d" xsi:nil="true"/>
  </documentManagement>
</p:properties>
</file>

<file path=customXml/itemProps1.xml><?xml version="1.0" encoding="utf-8"?>
<ds:datastoreItem xmlns:ds="http://schemas.openxmlformats.org/officeDocument/2006/customXml" ds:itemID="{49727D7A-53C7-4184-91A8-68E7EF8CC28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F8487C-1AA8-4303-889E-FA9D7FD13A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115654-be61-4105-9757-d7bfb2b96f7d"/>
    <ds:schemaRef ds:uri="6b9aff2d-c44d-4ca6-b37a-92fa543621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D2826B0-95F8-4F30-94FA-5BAB0E386B98}">
  <ds:schemaRefs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6b9aff2d-c44d-4ca6-b37a-92fa543621bc"/>
    <ds:schemaRef ds:uri="2f115654-be61-4105-9757-d7bfb2b96f7d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16059</TotalTime>
  <Words>1542</Words>
  <Application>Microsoft Office PowerPoint</Application>
  <PresentationFormat>Widescreen</PresentationFormat>
  <Paragraphs>306</Paragraphs>
  <Slides>10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Arial</vt:lpstr>
      <vt:lpstr>Calibri</vt:lpstr>
      <vt:lpstr>Nexa Black</vt:lpstr>
      <vt:lpstr>Wingdings</vt:lpstr>
      <vt:lpstr>Wingdings 2</vt:lpstr>
      <vt:lpstr>5_AIG Master Simple</vt:lpstr>
      <vt:lpstr>think-cell Slide</vt:lpstr>
      <vt:lpstr>Packager Shell Object</vt:lpstr>
      <vt:lpstr>High level Estimate For Safelite implementation with Instanda policies/coverages</vt:lpstr>
      <vt:lpstr>Option #05: Timelines &amp; Key Activities</vt:lpstr>
      <vt:lpstr>Roles and Responsibilities (current estimate)</vt:lpstr>
      <vt:lpstr>Roles and Responsibilities (E2E estimate)</vt:lpstr>
      <vt:lpstr>PowerPoint Presentation</vt:lpstr>
      <vt:lpstr>Option- 04: Design </vt:lpstr>
      <vt:lpstr>Option- 05: Design </vt:lpstr>
      <vt:lpstr>Option- 05: Design </vt:lpstr>
      <vt:lpstr>Option- 05: Design </vt:lpstr>
      <vt:lpstr>Non-Functional Requirements.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CORE – SMO Kick-Off Deck</dc:title>
  <dc:creator>Mehra, Tara</dc:creator>
  <cp:lastModifiedBy>Singh chauhan, Pawan pratap</cp:lastModifiedBy>
  <cp:revision>146</cp:revision>
  <dcterms:created xsi:type="dcterms:W3CDTF">2022-07-22T14:54:46Z</dcterms:created>
  <dcterms:modified xsi:type="dcterms:W3CDTF">2026-04-02T12:31:03Z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2022-07-22T14:54:46Z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ab20d0a1-354f-4ab9-abaa-14f0fb0111e4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0x01010086E74C3B75356F4A8C72C06208F4ACA7</vt:lpwstr>
  </property>
</Properties>
</file>