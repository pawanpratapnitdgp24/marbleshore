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7132320" cy="6858000"/>
          </a:xfrm>
          <a:prstGeom prst="rect">
            <a:avLst/>
          </a:prstGeom>
          <a:solidFill>
            <a:srgbClr val="1B6B7B">
              <a:alpha val="15000"/>
            </a:srgbClr>
          </a:solidFill>
          <a:ln w="12700">
            <a:solidFill>
              <a:srgbClr val="1B6B7B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Marbleshore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UWC – ASCO Integration Design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0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Flow, System Architecture &amp; Project Execution Plan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5486400" cy="3657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10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Marbleshore Specialty Insurance Co.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581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CONFIDENTIAL – DO NOT COPY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C89B3C">
              <a:alpha val="70000"/>
            </a:srgbClr>
          </a:solidFill>
          <a:ln w="12700">
            <a:solidFill>
              <a:srgbClr val="C89B3C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Marbleshore | UWC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109728"/>
            <a:ext cx="1188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 &amp; Key Activities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64592" y="521208"/>
            <a:ext cx="1188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is based on high level understanding of the current scope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816352" y="768096"/>
            <a:ext cx="1539240" cy="292608"/>
          </a:xfrm>
          <a:prstGeom prst="rect">
            <a:avLst/>
          </a:prstGeom>
          <a:solidFill>
            <a:srgbClr val="006B77"/>
          </a:solidFill>
          <a:ln w="12700">
            <a:solidFill>
              <a:srgbClr val="006B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16352" y="768096"/>
            <a:ext cx="153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55592" y="768096"/>
            <a:ext cx="6156960" cy="292608"/>
          </a:xfrm>
          <a:prstGeom prst="rect">
            <a:avLst/>
          </a:prstGeom>
          <a:solidFill>
            <a:srgbClr val="1B2B6B"/>
          </a:solidFill>
          <a:ln w="12700">
            <a:solidFill>
              <a:srgbClr val="1B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55592" y="768096"/>
            <a:ext cx="615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 &amp; Testing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512552" y="768096"/>
            <a:ext cx="1648968" cy="29260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2552" y="768096"/>
            <a:ext cx="1648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1078992"/>
            <a:ext cx="2651760" cy="329184"/>
          </a:xfrm>
          <a:prstGeom prst="rect">
            <a:avLst/>
          </a:prstGeom>
          <a:solidFill>
            <a:srgbClr val="40404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" y="10789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Activities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16352" y="1078992"/>
            <a:ext cx="765048" cy="329184"/>
          </a:xfrm>
          <a:prstGeom prst="rect">
            <a:avLst/>
          </a:prstGeom>
          <a:solidFill>
            <a:srgbClr val="006B77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1078992"/>
            <a:ext cx="765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Wk-1
</a:t>
            </a:r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17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585972" y="1078992"/>
            <a:ext cx="765048" cy="329184"/>
          </a:xfrm>
          <a:prstGeom prst="rect">
            <a:avLst/>
          </a:prstGeom>
          <a:solidFill>
            <a:srgbClr val="006B77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5972" y="1078992"/>
            <a:ext cx="765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Wk-2
</a:t>
            </a:r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24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355592" y="1078992"/>
            <a:ext cx="765048" cy="329184"/>
          </a:xfrm>
          <a:prstGeom prst="rect">
            <a:avLst/>
          </a:prstGeom>
          <a:solidFill>
            <a:srgbClr val="1B2B6B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55592" y="1078992"/>
            <a:ext cx="765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Wk-3
</a:t>
            </a:r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125212" y="1078992"/>
            <a:ext cx="765048" cy="329184"/>
          </a:xfrm>
          <a:prstGeom prst="rect">
            <a:avLst/>
          </a:prstGeom>
          <a:solidFill>
            <a:srgbClr val="1B2B6B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5212" y="1078992"/>
            <a:ext cx="765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Wk-4
</a:t>
            </a:r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8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894832" y="1078992"/>
            <a:ext cx="765048" cy="329184"/>
          </a:xfrm>
          <a:prstGeom prst="rect">
            <a:avLst/>
          </a:prstGeom>
          <a:solidFill>
            <a:srgbClr val="1B2B6B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4832" y="1078992"/>
            <a:ext cx="765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Wk-5
</a:t>
            </a:r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15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664452" y="1078992"/>
            <a:ext cx="765048" cy="329184"/>
          </a:xfrm>
          <a:prstGeom prst="rect">
            <a:avLst/>
          </a:prstGeom>
          <a:solidFill>
            <a:srgbClr val="1B2B6B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4452" y="1078992"/>
            <a:ext cx="765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Wk-6
</a:t>
            </a:r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22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434072" y="1078992"/>
            <a:ext cx="765048" cy="329184"/>
          </a:xfrm>
          <a:prstGeom prst="rect">
            <a:avLst/>
          </a:prstGeom>
          <a:solidFill>
            <a:srgbClr val="1B2B6B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4072" y="1078992"/>
            <a:ext cx="765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Wk-7
</a:t>
            </a:r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29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203692" y="1078992"/>
            <a:ext cx="765048" cy="329184"/>
          </a:xfrm>
          <a:prstGeom prst="rect">
            <a:avLst/>
          </a:prstGeom>
          <a:solidFill>
            <a:srgbClr val="1B2B6B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03692" y="1078992"/>
            <a:ext cx="765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Wk-8
</a:t>
            </a:r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5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973312" y="1078992"/>
            <a:ext cx="765048" cy="329184"/>
          </a:xfrm>
          <a:prstGeom prst="rect">
            <a:avLst/>
          </a:prstGeom>
          <a:solidFill>
            <a:srgbClr val="1B2B6B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73312" y="1078992"/>
            <a:ext cx="765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Wk-9
</a:t>
            </a:r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12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742932" y="1078992"/>
            <a:ext cx="765048" cy="329184"/>
          </a:xfrm>
          <a:prstGeom prst="rect">
            <a:avLst/>
          </a:prstGeom>
          <a:solidFill>
            <a:srgbClr val="1B2B6B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42932" y="1078992"/>
            <a:ext cx="765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Wk-10
</a:t>
            </a:r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19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0512552" y="1078992"/>
            <a:ext cx="765048" cy="329184"/>
          </a:xfrm>
          <a:prstGeom prst="rect">
            <a:avLst/>
          </a:prstGeom>
          <a:solidFill>
            <a:srgbClr val="375623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2552" y="1078992"/>
            <a:ext cx="765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Wk-11
</a:t>
            </a:r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26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1282172" y="1078992"/>
            <a:ext cx="765048" cy="329184"/>
          </a:xfrm>
          <a:prstGeom prst="rect">
            <a:avLst/>
          </a:prstGeom>
          <a:solidFill>
            <a:srgbClr val="375623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82172" y="1078992"/>
            <a:ext cx="765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Wk-12
</a:t>
            </a:r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64592" y="1408176"/>
            <a:ext cx="11996928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16352" y="1408176"/>
            <a:ext cx="0" cy="71323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3585972" y="1408176"/>
            <a:ext cx="0" cy="71323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355592" y="1408176"/>
            <a:ext cx="0" cy="71323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125212" y="1408176"/>
            <a:ext cx="0" cy="71323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894832" y="1408176"/>
            <a:ext cx="0" cy="71323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664452" y="1408176"/>
            <a:ext cx="0" cy="71323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7434072" y="1408176"/>
            <a:ext cx="0" cy="71323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8203692" y="1408176"/>
            <a:ext cx="0" cy="71323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8973312" y="1408176"/>
            <a:ext cx="0" cy="71323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9742932" y="1408176"/>
            <a:ext cx="0" cy="71323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10512552" y="1408176"/>
            <a:ext cx="0" cy="71323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1282172" y="1408176"/>
            <a:ext cx="0" cy="71323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2051792" y="1408176"/>
            <a:ext cx="0" cy="71323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219456" y="1453896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Identification
</a:t>
            </a:r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Requirements gathering, impact analysis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&amp; ETL Design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852928" y="1607881"/>
            <a:ext cx="1466088" cy="285293"/>
          </a:xfrm>
          <a:prstGeom prst="rect">
            <a:avLst/>
          </a:prstGeom>
          <a:solidFill>
            <a:srgbClr val="006B77"/>
          </a:solidFill>
          <a:ln w="12700">
            <a:solidFill>
              <a:srgbClr val="006B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36720" y="1571305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D7D31"/>
                </a:solidFill>
                <a:latin typeface="Wingdings 3" pitchFamily="34" charset="0"/>
                <a:ea typeface="Wingdings 3" pitchFamily="34" charset="-122"/>
                <a:cs typeface="Wingdings 3" pitchFamily="34" charset="-120"/>
              </a:rPr>
              <a:t>◆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989832" y="1463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for approach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design process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355592" y="1408176"/>
            <a:ext cx="0" cy="4224528"/>
          </a:xfrm>
          <a:prstGeom prst="line">
            <a:avLst/>
          </a:prstGeom>
          <a:noFill/>
          <a:ln w="10160">
            <a:solidFill>
              <a:srgbClr val="888888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8973312" y="1408176"/>
            <a:ext cx="0" cy="4224528"/>
          </a:xfrm>
          <a:prstGeom prst="line">
            <a:avLst/>
          </a:prstGeom>
          <a:noFill/>
          <a:ln w="10160">
            <a:solidFill>
              <a:srgbClr val="888888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164592" y="2121408"/>
            <a:ext cx="11996928" cy="1901952"/>
          </a:xfrm>
          <a:prstGeom prst="rect">
            <a:avLst/>
          </a:prstGeom>
          <a:solidFill>
            <a:srgbClr val="F2F2F2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816352" y="2121408"/>
            <a:ext cx="0" cy="190195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3585972" y="2121408"/>
            <a:ext cx="0" cy="190195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4355592" y="2121408"/>
            <a:ext cx="0" cy="190195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5125212" y="2121408"/>
            <a:ext cx="0" cy="190195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5894832" y="2121408"/>
            <a:ext cx="0" cy="190195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6664452" y="2121408"/>
            <a:ext cx="0" cy="190195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7434072" y="2121408"/>
            <a:ext cx="0" cy="190195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8203692" y="2121408"/>
            <a:ext cx="0" cy="190195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8973312" y="2121408"/>
            <a:ext cx="0" cy="190195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9742932" y="2121408"/>
            <a:ext cx="0" cy="190195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10512552" y="2121408"/>
            <a:ext cx="0" cy="190195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11282172" y="2121408"/>
            <a:ext cx="0" cy="190195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12051792" y="2121408"/>
            <a:ext cx="0" cy="1901952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219456" y="2167128"/>
            <a:ext cx="2542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and Testing activities
</a:t>
            </a:r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Requirements gathering, impact analysis and ETL Design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and 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Autosys and SFTP set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QA / In-Sprint Testing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E2E Testing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UAT by Project team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392168" y="2273564"/>
            <a:ext cx="1466088" cy="218724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31408" y="2539837"/>
            <a:ext cx="2235708" cy="218724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70648" y="2806111"/>
            <a:ext cx="696468" cy="218724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240268" y="3072384"/>
            <a:ext cx="696468" cy="218724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009888" y="3338657"/>
            <a:ext cx="696468" cy="218724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009888" y="3604931"/>
            <a:ext cx="1466088" cy="218724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393680" y="3568355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D7D31"/>
                </a:solidFill>
                <a:latin typeface="Wingdings 3" pitchFamily="34" charset="0"/>
                <a:ea typeface="Wingdings 3" pitchFamily="34" charset="-122"/>
                <a:cs typeface="Wingdings 3" pitchFamily="34" charset="-120"/>
              </a:rPr>
              <a:t>◆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10594848" y="3550067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Sign-off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64592" y="4023360"/>
            <a:ext cx="11996928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16352" y="4023360"/>
            <a:ext cx="0" cy="64008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3585972" y="4023360"/>
            <a:ext cx="0" cy="64008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4355592" y="4023360"/>
            <a:ext cx="0" cy="64008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5125212" y="4023360"/>
            <a:ext cx="0" cy="64008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>
            <a:off x="5894832" y="4023360"/>
            <a:ext cx="0" cy="64008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>
            <a:off x="6664452" y="4023360"/>
            <a:ext cx="0" cy="64008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7434072" y="4023360"/>
            <a:ext cx="0" cy="64008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8203692" y="4023360"/>
            <a:ext cx="0" cy="64008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8973312" y="4023360"/>
            <a:ext cx="0" cy="64008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9742932" y="4023360"/>
            <a:ext cx="0" cy="64008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10512552" y="4023360"/>
            <a:ext cx="0" cy="64008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11282172" y="4023360"/>
            <a:ext cx="0" cy="64008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12051792" y="4023360"/>
            <a:ext cx="0" cy="64008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93" name="Text 91"/>
          <p:cNvSpPr/>
          <p:nvPr/>
        </p:nvSpPr>
        <p:spPr>
          <a:xfrm>
            <a:off x="219456" y="406908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Migration
</a:t>
            </a:r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KT to BAU team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 Migration and Warranty Support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0549128" y="4183380"/>
            <a:ext cx="1466088" cy="28803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1540871" y="4138574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96" name="Text 94"/>
          <p:cNvSpPr/>
          <p:nvPr/>
        </p:nvSpPr>
        <p:spPr>
          <a:xfrm>
            <a:off x="11659743" y="410199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164592" y="4663440"/>
            <a:ext cx="11996928" cy="274320"/>
          </a:xfrm>
          <a:prstGeom prst="rect">
            <a:avLst/>
          </a:prstGeom>
          <a:solidFill>
            <a:srgbClr val="DEEAF1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19456" y="4663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Support / week (in hrs.)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2816352" y="4663440"/>
            <a:ext cx="153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5894832" y="4663440"/>
            <a:ext cx="153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8973312" y="466344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164592" y="4937760"/>
            <a:ext cx="11996928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816352" y="4937760"/>
            <a:ext cx="0" cy="77724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>
            <a:off x="3585972" y="4937760"/>
            <a:ext cx="0" cy="77724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105" name="Shape 103"/>
          <p:cNvSpPr/>
          <p:nvPr/>
        </p:nvSpPr>
        <p:spPr>
          <a:xfrm>
            <a:off x="4355592" y="4937760"/>
            <a:ext cx="0" cy="77724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>
            <a:off x="5125212" y="4937760"/>
            <a:ext cx="0" cy="77724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>
            <a:off x="5894832" y="4937760"/>
            <a:ext cx="0" cy="77724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>
            <a:off x="6664452" y="4937760"/>
            <a:ext cx="0" cy="77724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109" name="Shape 107"/>
          <p:cNvSpPr/>
          <p:nvPr/>
        </p:nvSpPr>
        <p:spPr>
          <a:xfrm>
            <a:off x="7434072" y="4937760"/>
            <a:ext cx="0" cy="77724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110" name="Shape 108"/>
          <p:cNvSpPr/>
          <p:nvPr/>
        </p:nvSpPr>
        <p:spPr>
          <a:xfrm>
            <a:off x="8203692" y="4937760"/>
            <a:ext cx="0" cy="77724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111" name="Shape 109"/>
          <p:cNvSpPr/>
          <p:nvPr/>
        </p:nvSpPr>
        <p:spPr>
          <a:xfrm>
            <a:off x="8973312" y="4937760"/>
            <a:ext cx="0" cy="77724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9742932" y="4937760"/>
            <a:ext cx="0" cy="77724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>
            <a:off x="10512552" y="4937760"/>
            <a:ext cx="0" cy="77724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114" name="Shape 112"/>
          <p:cNvSpPr/>
          <p:nvPr/>
        </p:nvSpPr>
        <p:spPr>
          <a:xfrm>
            <a:off x="11282172" y="4937760"/>
            <a:ext cx="0" cy="77724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>
            <a:off x="12051792" y="4937760"/>
            <a:ext cx="0" cy="777240"/>
          </a:xfrm>
          <a:prstGeom prst="line">
            <a:avLst/>
          </a:prstGeom>
          <a:noFill/>
          <a:ln w="3810">
            <a:solidFill>
              <a:srgbClr val="BFBFBF"/>
            </a:solidFill>
            <a:prstDash val="dash"/>
          </a:ln>
        </p:spPr>
      </p:sp>
      <p:sp>
        <p:nvSpPr>
          <p:cNvPr id="116" name="Text 114"/>
          <p:cNvSpPr/>
          <p:nvPr/>
        </p:nvSpPr>
        <p:spPr>
          <a:xfrm>
            <a:off x="219456" y="4992624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Client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2862072" y="4992624"/>
            <a:ext cx="144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proposed approach / design solution and provide feedback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support to onboard for testing and sign-off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5940552" y="4992624"/>
            <a:ext cx="144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support to clarify any questions, if any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UAT test scenarios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9019032" y="4992624"/>
            <a:ext cx="22174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 UAT testing (data ingestion to ASCO) and provide feedback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UAT oversight for ASCO (API testing) &amp; give overall sign-off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support from Infra team for the production deployment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164592" y="6675120"/>
            <a:ext cx="1188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Confidential – For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61520" cy="3657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"/>
            <a:ext cx="9144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Responsibilities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ownership across all project phases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8426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CONFIDENTIAL – DO NOT COPY  |  Project Marbleshore  | 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1234440" cy="320040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7772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63040" y="777240"/>
            <a:ext cx="4937760" cy="320040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777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0" y="777240"/>
            <a:ext cx="1280160" cy="32004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777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UWC/PCS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699248" y="777240"/>
            <a:ext cx="1280160" cy="320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9248" y="777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97696" y="777240"/>
            <a:ext cx="1280160" cy="32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97696" y="777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296144" y="777240"/>
            <a:ext cx="1280160" cy="320040"/>
          </a:xfrm>
          <a:prstGeom prst="rect">
            <a:avLst/>
          </a:prstGeom>
          <a:solidFill>
            <a:srgbClr val="6B3F8A"/>
          </a:solidFill>
          <a:ln w="12700">
            <a:solidFill>
              <a:srgbClr val="6B3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96144" y="777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(EDW)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1097280"/>
            <a:ext cx="1234440" cy="1078992"/>
          </a:xfrm>
          <a:prstGeom prst="rect">
            <a:avLst/>
          </a:prstGeom>
          <a:solidFill>
            <a:srgbClr val="1B6B7B">
              <a:alpha val="85000"/>
            </a:srgbClr>
          </a:solidFill>
          <a:ln w="6350">
            <a:solidFill>
              <a:srgbClr val="1B6B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097280"/>
            <a:ext cx="1234440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Design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463040" y="1097280"/>
            <a:ext cx="49377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109728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UWC-to-ASCO data mapping &amp; design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0" y="109728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097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99248" y="109728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9248" y="1097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97696" y="109728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97696" y="1097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296144" y="109728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63040" y="1371600"/>
            <a:ext cx="49377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137160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L3 technical design for ETL jobs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00800" y="137160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9248" y="137160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99248" y="1371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997696" y="137160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96144" y="137160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96144" y="1371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463040" y="1645920"/>
            <a:ext cx="49377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08760" y="164592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ASCO business requirements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00800" y="164592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9248" y="164592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97696" y="164592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97696" y="1645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296144" y="164592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96144" y="1645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463040" y="1920240"/>
            <a:ext cx="49377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08760" y="192024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test schedule &amp; coordinate approvals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400800" y="192024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699248" y="192024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99248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997696" y="192024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97696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296144" y="192024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296144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28600" y="2194560"/>
            <a:ext cx="1234440" cy="1078992"/>
          </a:xfrm>
          <a:prstGeom prst="rect">
            <a:avLst/>
          </a:prstGeom>
          <a:solidFill>
            <a:srgbClr val="1A2E4A">
              <a:alpha val="85000"/>
            </a:srgbClr>
          </a:solidFill>
          <a:ln w="6350">
            <a:solidFill>
              <a:srgbClr val="1A2E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" y="2194560"/>
            <a:ext cx="1234440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463040" y="2194560"/>
            <a:ext cx="49377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508760" y="219456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UWC database schema changes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400800" y="219456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699248" y="219456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97696" y="219456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296144" y="219456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63040" y="2468880"/>
            <a:ext cx="49377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08760" y="246888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ETL jobs (UWC → EDW → ASCO)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400800" y="246888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0" y="2468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699248" y="246888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699248" y="2468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997696" y="246888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97696" y="2468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0296144" y="246888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296144" y="2468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463040" y="2743200"/>
            <a:ext cx="49377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08760" y="274320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SFTP folders for file transfer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400800" y="274320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0" y="2743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7699248" y="274320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97696" y="274320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296144" y="274320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463040" y="3017520"/>
            <a:ext cx="49377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50876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 downstream applications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400800" y="301752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99248" y="301752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99248" y="3017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8997696" y="301752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296144" y="301752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28600" y="3291840"/>
            <a:ext cx="1234440" cy="804672"/>
          </a:xfrm>
          <a:prstGeom prst="rect">
            <a:avLst/>
          </a:prstGeom>
          <a:solidFill>
            <a:srgbClr val="3D6B55">
              <a:alpha val="85000"/>
            </a:srgbClr>
          </a:solidFill>
          <a:ln w="6350">
            <a:solidFill>
              <a:srgbClr val="3D6B5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28600" y="3291840"/>
            <a:ext cx="123444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463040" y="3291840"/>
            <a:ext cx="49377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508760" y="329184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&amp; manage E2E / SIT testing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400800" y="329184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00800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7699248" y="329184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699248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8997696" y="329184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997696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10296144" y="329184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296144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1463040" y="3566160"/>
            <a:ext cx="49377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508760" y="356616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UAT testing for ASCO data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400800" y="356616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699248" y="356616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997696" y="356616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997696" y="3566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10296144" y="356616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463040" y="3840480"/>
            <a:ext cx="49377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508760" y="384048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UAT testing for EDW &amp; reporting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6400800" y="384048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699248" y="384048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997696" y="384048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296144" y="384048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296144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228600" y="4114800"/>
            <a:ext cx="1234440" cy="804672"/>
          </a:xfrm>
          <a:prstGeom prst="rect">
            <a:avLst/>
          </a:prstGeom>
          <a:solidFill>
            <a:srgbClr val="6B3F8A">
              <a:alpha val="85000"/>
            </a:srgbClr>
          </a:solidFill>
          <a:ln w="6350">
            <a:solidFill>
              <a:srgbClr val="6B3F8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28600" y="4114800"/>
            <a:ext cx="123444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3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1463040" y="4114800"/>
            <a:ext cx="49377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508760" y="411480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UWC database changes to Production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6400800" y="411480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400800" y="4114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7699248" y="411480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997696" y="411480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296144" y="411480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463040" y="4389120"/>
            <a:ext cx="49377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508760" y="438912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ETL jobs to Production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6400800" y="438912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699248" y="438912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997696" y="438912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296144" y="438912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296144" y="4389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1463040" y="4663440"/>
            <a:ext cx="49377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508760" y="466344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production data migration / cutover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6400800" y="466344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400800" y="4663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7699248" y="466344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699248" y="4663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8997696" y="466344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997696" y="4663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0" name="Shape 138"/>
          <p:cNvSpPr/>
          <p:nvPr/>
        </p:nvSpPr>
        <p:spPr>
          <a:xfrm>
            <a:off x="10296144" y="466344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296144" y="4663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228600" y="4937760"/>
            <a:ext cx="1234440" cy="530352"/>
          </a:xfrm>
          <a:prstGeom prst="rect">
            <a:avLst/>
          </a:prstGeom>
          <a:solidFill>
            <a:srgbClr val="C89B3C">
              <a:alpha val="85000"/>
            </a:srgbClr>
          </a:solidFill>
          <a:ln w="6350">
            <a:solidFill>
              <a:srgbClr val="C89B3C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228600" y="4937760"/>
            <a:ext cx="123444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1463040" y="4937760"/>
            <a:ext cx="49377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508760" y="493776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production jobs &amp; data integrity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6400800" y="493776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699248" y="493776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997696" y="493776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296144" y="4937760"/>
            <a:ext cx="1280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0296144" y="4937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1" name="Shape 149"/>
          <p:cNvSpPr/>
          <p:nvPr/>
        </p:nvSpPr>
        <p:spPr>
          <a:xfrm>
            <a:off x="1463040" y="5212080"/>
            <a:ext cx="49377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508760" y="5212080"/>
            <a:ext cx="4846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and resolve post-go-live defects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6400800" y="521208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400800" y="5212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5" name="Shape 153"/>
          <p:cNvSpPr/>
          <p:nvPr/>
        </p:nvSpPr>
        <p:spPr>
          <a:xfrm>
            <a:off x="7699248" y="521208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699248" y="5212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8997696" y="521208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997696" y="5212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9" name="Shape 157"/>
          <p:cNvSpPr/>
          <p:nvPr/>
        </p:nvSpPr>
        <p:spPr>
          <a:xfrm>
            <a:off x="10296144" y="5212080"/>
            <a:ext cx="1280160" cy="256032"/>
          </a:xfrm>
          <a:prstGeom prst="rect">
            <a:avLst/>
          </a:prstGeom>
          <a:solidFill>
            <a:srgbClr val="EFF4F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0296144" y="5212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1" name="Text 159"/>
          <p:cNvSpPr/>
          <p:nvPr/>
        </p:nvSpPr>
        <p:spPr>
          <a:xfrm>
            <a:off x="228600" y="6355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Responsible/Accountable</a:t>
            </a:r>
            <a:endParaRPr lang="en-US" sz="800" dirty="0"/>
          </a:p>
        </p:txBody>
      </p:sp>
      <p:sp>
        <p:nvSpPr>
          <p:cNvPr id="162" name="Text 160"/>
          <p:cNvSpPr/>
          <p:nvPr/>
        </p:nvSpPr>
        <p:spPr>
          <a:xfrm>
            <a:off x="3429000" y="6355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Consulted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61520" cy="3657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"/>
            <a:ext cx="9144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Design: Data Flow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UWC → ASCO and SRM → EDW end-to-end flows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8426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CONFIDENTIAL – DO NOT COPY  |  Project Marbleshore  | 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11612880" cy="256032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10972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1: UWC → ASCO Data Integration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6616" y="1115568"/>
            <a:ext cx="146304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" y="1170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" y="14996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TUW_POLICY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TUW_COMPANY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TUW_SUBMISSION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19656" y="1618488"/>
            <a:ext cx="201168" cy="0"/>
          </a:xfrm>
          <a:prstGeom prst="line">
            <a:avLst/>
          </a:prstGeom>
          <a:noFill/>
          <a:ln w="22860">
            <a:solidFill>
              <a:srgbClr val="C89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0298" y="152704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20824" y="1115568"/>
            <a:ext cx="1463040" cy="100584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20824" y="1170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66544" y="14996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DataStage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using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DMDM query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483864" y="1618488"/>
            <a:ext cx="201168" cy="0"/>
          </a:xfrm>
          <a:prstGeom prst="line">
            <a:avLst/>
          </a:prstGeom>
          <a:noFill/>
          <a:ln w="22860">
            <a:solidFill>
              <a:srgbClr val="C89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4506" y="152704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85032" y="1115568"/>
            <a:ext cx="1463040" cy="100584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85032" y="1170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30752" y="14996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Landing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UWC_ASCO_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YYYYMMDD.dat.pgp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control file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148072" y="1618488"/>
            <a:ext cx="201168" cy="0"/>
          </a:xfrm>
          <a:prstGeom prst="line">
            <a:avLst/>
          </a:prstGeom>
          <a:noFill/>
          <a:ln w="22860">
            <a:solidFill>
              <a:srgbClr val="C89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8714" y="152704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49240" y="1115568"/>
            <a:ext cx="1463040" cy="10058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49240" y="1170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14996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MFT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PGP encrypted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compressed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812280" y="1618488"/>
            <a:ext cx="201168" cy="0"/>
          </a:xfrm>
          <a:prstGeom prst="line">
            <a:avLst/>
          </a:prstGeom>
          <a:noFill/>
          <a:ln w="22860">
            <a:solidFill>
              <a:srgbClr val="C89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22922" y="152704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013448" y="1115568"/>
            <a:ext cx="146304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013448" y="1170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Pre-Validation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59168" y="14996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count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file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476488" y="1618488"/>
            <a:ext cx="201168" cy="0"/>
          </a:xfrm>
          <a:prstGeom prst="line">
            <a:avLst/>
          </a:prstGeom>
          <a:noFill/>
          <a:ln w="22860">
            <a:solidFill>
              <a:srgbClr val="C89B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87130" y="152704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677656" y="1115568"/>
            <a:ext cx="1463040" cy="100584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77656" y="1170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Job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723376" y="14996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into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 staging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0140696" y="1618488"/>
            <a:ext cx="201168" cy="0"/>
          </a:xfrm>
          <a:prstGeom prst="line">
            <a:avLst/>
          </a:prstGeom>
          <a:noFill/>
          <a:ln w="22860">
            <a:solidFill>
              <a:srgbClr val="C89B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51338" y="152704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341864" y="1115568"/>
            <a:ext cx="146304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341864" y="1170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387584" y="14996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BU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data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underwriting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020824" y="21762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 Run – Autosys Scheduled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013448" y="2395728"/>
            <a:ext cx="3200400" cy="320040"/>
          </a:xfrm>
          <a:prstGeom prst="rect">
            <a:avLst/>
          </a:prstGeom>
          <a:solidFill>
            <a:srgbClr val="FFF3CD"/>
          </a:solidFill>
          <a:ln w="10160">
            <a:solidFill>
              <a:srgbClr val="C89B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86600" y="2395728"/>
            <a:ext cx="30632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Validation Failure → Auto email alert sent to support team with expected vs. actual record counts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74320" y="2788920"/>
            <a:ext cx="1161288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2788920"/>
            <a:ext cx="10972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2: SRM → ODS → EDW Data Pipeline (DataStage ETL)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3127248"/>
            <a:ext cx="1600200" cy="100584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48640" y="31821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4360" y="351129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(Party &amp; Policy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148840" y="3630168"/>
            <a:ext cx="292608" cy="0"/>
          </a:xfrm>
          <a:prstGeom prst="line">
            <a:avLst/>
          </a:prstGeom>
          <a:noFill/>
          <a:ln w="22860">
            <a:solidFill>
              <a:srgbClr val="C89B3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41448" y="3127248"/>
            <a:ext cx="16002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441448" y="31821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Extract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487168" y="351129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with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SRM tables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columns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041648" y="3630168"/>
            <a:ext cx="292608" cy="0"/>
          </a:xfrm>
          <a:prstGeom prst="line">
            <a:avLst/>
          </a:prstGeom>
          <a:noFill/>
          <a:ln w="22860">
            <a:solidFill>
              <a:srgbClr val="C89B3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34256" y="3127248"/>
            <a:ext cx="1600200" cy="100584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334256" y="31821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379976" y="351129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(Near real-time)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934456" y="3630168"/>
            <a:ext cx="292608" cy="0"/>
          </a:xfrm>
          <a:prstGeom prst="line">
            <a:avLst/>
          </a:prstGeom>
          <a:noFill/>
          <a:ln w="22860">
            <a:solidFill>
              <a:srgbClr val="C89B3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27064" y="3127248"/>
            <a:ext cx="16002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227064" y="31821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272784" y="351129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DataStage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load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&amp; dim tables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827264" y="3630168"/>
            <a:ext cx="292608" cy="0"/>
          </a:xfrm>
          <a:prstGeom prst="line">
            <a:avLst/>
          </a:prstGeom>
          <a:noFill/>
          <a:ln w="22860">
            <a:solidFill>
              <a:srgbClr val="C89B3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19872" y="3127248"/>
            <a:ext cx="1600200" cy="1005840"/>
          </a:xfrm>
          <a:prstGeom prst="rect">
            <a:avLst/>
          </a:prstGeom>
          <a:solidFill>
            <a:srgbClr val="6B3F8A"/>
          </a:solidFill>
          <a:ln w="12700">
            <a:solidFill>
              <a:srgbClr val="6B3F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8119872" y="31821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165592" y="351129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(Analytics)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9720072" y="3630168"/>
            <a:ext cx="292608" cy="0"/>
          </a:xfrm>
          <a:prstGeom prst="line">
            <a:avLst/>
          </a:prstGeom>
          <a:noFill/>
          <a:ln w="22860">
            <a:solidFill>
              <a:srgbClr val="C89B3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012680" y="3127248"/>
            <a:ext cx="1600200" cy="100584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10012680" y="31821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Analytics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0058400" y="351129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Reports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views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74320" y="4251960"/>
            <a:ext cx="3749040" cy="457200"/>
          </a:xfrm>
          <a:prstGeom prst="rect">
            <a:avLst/>
          </a:prstGeom>
          <a:solidFill>
            <a:srgbClr val="1B6B7B">
              <a:alpha val="12000"/>
            </a:srgbClr>
          </a:solidFill>
          <a:ln w="6350">
            <a:solidFill>
              <a:srgbClr val="1B6B7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4251960"/>
            <a:ext cx="3566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SRM tables added: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SRM_NEW_ATTRIBUTES,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SRM_PARTY_MASTER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206240" y="4251960"/>
            <a:ext cx="3749040" cy="457200"/>
          </a:xfrm>
          <a:prstGeom prst="rect">
            <a:avLst/>
          </a:prstGeom>
          <a:solidFill>
            <a:srgbClr val="1A2E4A">
              <a:alpha val="12000"/>
            </a:srgbClr>
          </a:solidFill>
          <a:ln w="6350">
            <a:solidFill>
              <a:srgbClr val="1A2E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97680" y="4251960"/>
            <a:ext cx="3566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job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main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job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138160" y="4251960"/>
            <a:ext cx="3749040" cy="457200"/>
          </a:xfrm>
          <a:prstGeom prst="rect">
            <a:avLst/>
          </a:prstGeom>
          <a:solidFill>
            <a:srgbClr val="6B3F8A">
              <a:alpha val="12000"/>
            </a:srgbClr>
          </a:solidFill>
          <a:ln w="6350">
            <a:solidFill>
              <a:srgbClr val="6B3F8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29600" y="4251960"/>
            <a:ext cx="3566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3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interaction: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3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 consumes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3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UWC data feed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955280" y="4251960"/>
            <a:ext cx="3931920" cy="457200"/>
          </a:xfrm>
          <a:prstGeom prst="rect">
            <a:avLst/>
          </a:prstGeom>
          <a:solidFill>
            <a:srgbClr val="FFF8E8"/>
          </a:solidFill>
          <a:ln w="10160">
            <a:solidFill>
              <a:srgbClr val="C89B3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46720" y="4251960"/>
            <a:ext cx="3749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PCS ↔ UWC integration point marked 'TBD' – requires finalization before Development phase begins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74320" y="4818888"/>
            <a:ext cx="11612880" cy="219456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0040" y="4818888"/>
            <a:ext cx="1097280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Application Health Summary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74320" y="5047488"/>
            <a:ext cx="987552" cy="237744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0896" y="50474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ID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280160" y="5047488"/>
            <a:ext cx="3822192" cy="237744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316736" y="50474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Name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5120640" y="5047488"/>
            <a:ext cx="1810512" cy="237744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157216" y="50474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949440" y="5047488"/>
            <a:ext cx="1353312" cy="237744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986016" y="50474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8321040" y="5047488"/>
            <a:ext cx="3547872" cy="237744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357616" y="50474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Health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274320" y="5285232"/>
            <a:ext cx="987552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10896" y="528523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APP-001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1280160" y="5285232"/>
            <a:ext cx="3822192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316736" y="528523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Center Suite (PCS)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5120640" y="5285232"/>
            <a:ext cx="1810512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157216" y="528523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Smith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6949440" y="5285232"/>
            <a:ext cx="1353312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986016" y="5285232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8321040" y="5285232"/>
            <a:ext cx="3547872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357616" y="528523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274320" y="5504688"/>
            <a:ext cx="987552" cy="210312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10896" y="550468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APP-002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1280160" y="5504688"/>
            <a:ext cx="3822192" cy="210312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316736" y="550468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5120640" y="5504688"/>
            <a:ext cx="1810512" cy="210312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157216" y="550468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Doe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6949440" y="5504688"/>
            <a:ext cx="1353312" cy="210312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986016" y="5504688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8321040" y="5504688"/>
            <a:ext cx="3547872" cy="210312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357616" y="550468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Amber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274320" y="5724144"/>
            <a:ext cx="987552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10896" y="57241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APP-003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1280160" y="5724144"/>
            <a:ext cx="3822192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316736" y="572414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UWC (Underwriting Console)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5120640" y="5724144"/>
            <a:ext cx="1810512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157216" y="5724144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Smith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6949440" y="5724144"/>
            <a:ext cx="1353312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986016" y="572414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8321040" y="5724144"/>
            <a:ext cx="3547872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357616" y="5724144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274320" y="5943600"/>
            <a:ext cx="987552" cy="210312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10896" y="594360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APP-015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1280160" y="5943600"/>
            <a:ext cx="3822192" cy="210312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316736" y="594360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5120640" y="5943600"/>
            <a:ext cx="1810512" cy="210312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157216" y="5943600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6949440" y="5943600"/>
            <a:ext cx="1353312" cy="210312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986016" y="5943600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8321040" y="5943600"/>
            <a:ext cx="3547872" cy="210312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357616" y="594360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74320" y="6163056"/>
            <a:ext cx="987552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10896" y="616305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APP-016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1280160" y="6163056"/>
            <a:ext cx="3822192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316736" y="6163056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5120640" y="6163056"/>
            <a:ext cx="1810512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157216" y="6163056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6949440" y="6163056"/>
            <a:ext cx="1353312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986016" y="6163056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8321040" y="6163056"/>
            <a:ext cx="3547872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357616" y="6163056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Amber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274320" y="6382512"/>
            <a:ext cx="987552" cy="210312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10896" y="638251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APP-021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1280160" y="6382512"/>
            <a:ext cx="3822192" cy="210312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316736" y="638251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5120640" y="6382512"/>
            <a:ext cx="1810512" cy="210312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157216" y="638251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BU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6949440" y="6382512"/>
            <a:ext cx="1353312" cy="210312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986016" y="6382512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8321040" y="6382512"/>
            <a:ext cx="3547872" cy="210312"/>
          </a:xfrm>
          <a:prstGeom prst="rect">
            <a:avLst/>
          </a:prstGeom>
          <a:solidFill>
            <a:srgbClr val="FFF0E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357616" y="638251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 – Critical Risk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61520" cy="3657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"/>
            <a:ext cx="9144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(NFRs) – UWC-to-ASCO Feed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integration standards for the new UWC-to-ASCO daily data feed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8426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CONFIDENTIAL – DO NOT COPY  |  Project Marbleshore  | 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1984248" cy="31089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77724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777240"/>
            <a:ext cx="2990088" cy="31089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864" y="77724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Approach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777240"/>
            <a:ext cx="6556248" cy="31089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777240"/>
            <a:ext cx="6473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088136"/>
            <a:ext cx="198424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115568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Location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0" y="1088136"/>
            <a:ext cx="2990088" cy="470916"/>
          </a:xfrm>
          <a:prstGeom prst="rect">
            <a:avLst/>
          </a:prstGeom>
          <a:solidFill>
            <a:srgbClr val="FFF3CD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40864" y="1115568"/>
            <a:ext cx="2880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Defined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03520" y="1088136"/>
            <a:ext cx="655624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1115568"/>
            <a:ext cx="6446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server IP, port, and directory path for the file drop – must be finalized before Development phase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1088136"/>
            <a:ext cx="45720" cy="47091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586484"/>
            <a:ext cx="1984248" cy="470916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1613916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Files per Run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0" y="1586484"/>
            <a:ext cx="2990088" cy="470916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40864" y="1613916"/>
            <a:ext cx="2880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zipped file per daily run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03520" y="1586484"/>
            <a:ext cx="6556248" cy="470916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58384" y="1613916"/>
            <a:ext cx="6446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combined data file + separate control file per execution cycle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084832"/>
            <a:ext cx="198424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" y="2112264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 &amp; Delimiter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0" y="2084832"/>
            <a:ext cx="299008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40864" y="2112264"/>
            <a:ext cx="2880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Pipe-delimited text file, no quotes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03520" y="2084832"/>
            <a:ext cx="655624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58384" y="2112264"/>
            <a:ext cx="6446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row included. DOS-to-Unix conversion not required. UTF-8 encoding.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2583180"/>
            <a:ext cx="1984248" cy="470916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2610612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Page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0" y="2583180"/>
            <a:ext cx="2990088" cy="470916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40864" y="2610612"/>
            <a:ext cx="2880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03520" y="2583180"/>
            <a:ext cx="6556248" cy="470916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58384" y="2610612"/>
            <a:ext cx="6446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default. No change to the framework job required.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3081528"/>
            <a:ext cx="198424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" y="3108960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286000" y="3081528"/>
            <a:ext cx="299008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40864" y="3108960"/>
            <a:ext cx="2880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Included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03520" y="3081528"/>
            <a:ext cx="655624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58384" y="3108960"/>
            <a:ext cx="6446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in header row for all data files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579876"/>
            <a:ext cx="1984248" cy="470916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3607308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&amp; Encryption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0" y="3579876"/>
            <a:ext cx="2990088" cy="470916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40864" y="3607308"/>
            <a:ext cx="2880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.ZIP with PGP encryption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303520" y="3579876"/>
            <a:ext cx="6556248" cy="470916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58384" y="3607308"/>
            <a:ext cx="6446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compressed as ZIP, then encrypted using PGP before FTP transfer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4078224"/>
            <a:ext cx="198424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" y="4105656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/ Reconciliation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286000" y="4078224"/>
            <a:ext cx="299008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40864" y="4105656"/>
            <a:ext cx="2880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Control File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303520" y="4078224"/>
            <a:ext cx="655624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58384" y="4105656"/>
            <a:ext cx="6446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control file with expected record count is sent with every data file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74320" y="4576572"/>
            <a:ext cx="1984248" cy="470916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9184" y="4604004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286000" y="4576572"/>
            <a:ext cx="2990088" cy="470916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40864" y="4604004"/>
            <a:ext cx="2880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reprocessing mode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303520" y="4576572"/>
            <a:ext cx="6556248" cy="470916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58384" y="4604004"/>
            <a:ext cx="6446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alert to support team on failure. Manual ad-hoc rerun procedure defined.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4320" y="5074920"/>
            <a:ext cx="198424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9184" y="5102352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286000" y="5074920"/>
            <a:ext cx="299008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340864" y="5102352"/>
            <a:ext cx="2880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303520" y="5074920"/>
            <a:ext cx="655624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58384" y="5102352"/>
            <a:ext cx="6446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per day; scheduled via Autosys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74320" y="5573268"/>
            <a:ext cx="1984248" cy="470916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9184" y="5600700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286000" y="5573268"/>
            <a:ext cx="2990088" cy="470916"/>
          </a:xfrm>
          <a:prstGeom prst="rect">
            <a:avLst/>
          </a:prstGeom>
          <a:solidFill>
            <a:srgbClr val="FFF3CD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40864" y="5600700"/>
            <a:ext cx="2880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Defined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303520" y="5573268"/>
            <a:ext cx="6556248" cy="470916"/>
          </a:xfrm>
          <a:prstGeom prst="rect">
            <a:avLst/>
          </a:prstGeom>
          <a:solidFill>
            <a:srgbClr val="EEF3F7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58384" y="5600700"/>
            <a:ext cx="6446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window to be agreed with ASCO team – target between 02:00 – 04:00 UTC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74320" y="5573268"/>
            <a:ext cx="45720" cy="47091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6071616"/>
            <a:ext cx="198424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9184" y="6099048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Naming Convention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286000" y="6071616"/>
            <a:ext cx="299008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40864" y="6099048"/>
            <a:ext cx="2880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UWC_ASCO_YYYYMMDD_HHMMSS.dat.pgp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303520" y="6071616"/>
            <a:ext cx="6556248" cy="470916"/>
          </a:xfrm>
          <a:prstGeom prst="rect">
            <a:avLst/>
          </a:prstGeom>
          <a:solidFill>
            <a:srgbClr val="FFFFF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58384" y="6099048"/>
            <a:ext cx="6446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Date-stamped to avoid overwrites; archive retention policy to be confirmed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61520" cy="3657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"/>
            <a:ext cx="9144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Gap Analysis: AS-IS vs. TO-BE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improvements delivered by the Marbleshore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8426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CONFIDENTIAL – DO NOT COPY  |  Project Marbleshore  | 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795528"/>
            <a:ext cx="1344168" cy="292608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795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Area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0" y="795528"/>
            <a:ext cx="3081528" cy="292608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00784" y="7955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(AS-IS)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795528"/>
            <a:ext cx="3081528" cy="292608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7955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 (TO-BE)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863840" y="795528"/>
            <a:ext cx="3081528" cy="292608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18704" y="7955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&amp; Action Item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088136"/>
            <a:ext cx="1344168" cy="1243584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088136"/>
            <a:ext cx="1344168" cy="1243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0" y="1088136"/>
            <a:ext cx="3081528" cy="1243584"/>
          </a:xfrm>
          <a:prstGeom prst="rect">
            <a:avLst/>
          </a:prstGeom>
          <a:solidFill>
            <a:srgbClr val="FFF0E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0" y="1088136"/>
            <a:ext cx="36576" cy="1243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1161288"/>
            <a:ext cx="2944368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 across multiple screens; disjointed UX; prone to data entry errors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088136"/>
            <a:ext cx="3081528" cy="1243584"/>
          </a:xfrm>
          <a:prstGeom prst="rect">
            <a:avLst/>
          </a:prstGeom>
          <a:solidFill>
            <a:srgbClr val="EDFAF3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088136"/>
            <a:ext cx="36576" cy="1243584"/>
          </a:xfrm>
          <a:prstGeom prst="rect">
            <a:avLst/>
          </a:prstGeom>
          <a:solidFill>
            <a:srgbClr val="1B7B4A"/>
          </a:solidFill>
          <a:ln w="12700">
            <a:solidFill>
              <a:srgbClr val="1B7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161288"/>
            <a:ext cx="2944368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quoting platform with single data entry point; streamlined underwriter workflow via UWC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63840" y="1088136"/>
            <a:ext cx="3081528" cy="1243584"/>
          </a:xfrm>
          <a:prstGeom prst="rect">
            <a:avLst/>
          </a:prstGeom>
          <a:solidFill>
            <a:srgbClr val="FFF8E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1088136"/>
            <a:ext cx="36576" cy="124358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1161288"/>
            <a:ext cx="2944368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new UI consolidating all fields; integrate PCS ↔ UWC (TBD point to be resolved)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368296"/>
            <a:ext cx="1344168" cy="124358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368296"/>
            <a:ext cx="1344168" cy="1243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645920" y="2368296"/>
            <a:ext cx="3081528" cy="1243584"/>
          </a:xfrm>
          <a:prstGeom prst="rect">
            <a:avLst/>
          </a:prstGeom>
          <a:solidFill>
            <a:srgbClr val="FFF0E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0" y="2368296"/>
            <a:ext cx="36576" cy="1243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2441448"/>
            <a:ext cx="2944368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manual comparison of data extracts between SRM and downstream systems; time-consuming and error-prone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368296"/>
            <a:ext cx="3081528" cy="1243584"/>
          </a:xfrm>
          <a:prstGeom prst="rect">
            <a:avLst/>
          </a:prstGeom>
          <a:solidFill>
            <a:srgbClr val="EDFAF3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368296"/>
            <a:ext cx="36576" cy="1243584"/>
          </a:xfrm>
          <a:prstGeom prst="rect">
            <a:avLst/>
          </a:prstGeom>
          <a:solidFill>
            <a:srgbClr val="1B7B4A"/>
          </a:solidFill>
          <a:ln w="12700">
            <a:solidFill>
              <a:srgbClr val="1B7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441448"/>
            <a:ext cx="2944368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reconciliation job with exception-based workflow; discrepancies flagged for business user review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863840" y="2368296"/>
            <a:ext cx="3081528" cy="1243584"/>
          </a:xfrm>
          <a:prstGeom prst="rect">
            <a:avLst/>
          </a:prstGeom>
          <a:solidFill>
            <a:srgbClr val="FFF8E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0" y="2368296"/>
            <a:ext cx="36576" cy="124358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2441448"/>
            <a:ext cx="2944368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automated reconciliation job eliminating manual checks; define alerting thresholds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648456"/>
            <a:ext cx="1344168" cy="1243584"/>
          </a:xfrm>
          <a:prstGeom prst="rect">
            <a:avLst/>
          </a:prstGeom>
          <a:solidFill>
            <a:srgbClr val="6B3F8A"/>
          </a:solidFill>
          <a:ln w="12700">
            <a:solidFill>
              <a:srgbClr val="6B3F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648456"/>
            <a:ext cx="1344168" cy="1243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645920" y="3648456"/>
            <a:ext cx="3081528" cy="1243584"/>
          </a:xfrm>
          <a:prstGeom prst="rect">
            <a:avLst/>
          </a:prstGeom>
          <a:solidFill>
            <a:srgbClr val="FFF0E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5920" y="3648456"/>
            <a:ext cx="36576" cy="1243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37360" y="3721608"/>
            <a:ext cx="2944368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run directly against operational SRM database; causes performance degradation during business hours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3648456"/>
            <a:ext cx="3081528" cy="1243584"/>
          </a:xfrm>
          <a:prstGeom prst="rect">
            <a:avLst/>
          </a:prstGeom>
          <a:solidFill>
            <a:srgbClr val="EDFAF3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648456"/>
            <a:ext cx="36576" cy="1243584"/>
          </a:xfrm>
          <a:prstGeom prst="rect">
            <a:avLst/>
          </a:prstGeom>
          <a:solidFill>
            <a:srgbClr val="1B7B4A"/>
          </a:solidFill>
          <a:ln w="12700">
            <a:solidFill>
              <a:srgbClr val="1B7B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721608"/>
            <a:ext cx="2944368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reporting and analytics generated from dedicated EDW; operational systems fully isolated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863840" y="3648456"/>
            <a:ext cx="3081528" cy="1243584"/>
          </a:xfrm>
          <a:prstGeom prst="rect">
            <a:avLst/>
          </a:prstGeom>
          <a:solidFill>
            <a:srgbClr val="FFF8E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63840" y="3648456"/>
            <a:ext cx="36576" cy="124358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55280" y="3721608"/>
            <a:ext cx="2944368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all reporting to new EDW; update DataStage ETL to include new SRM data elements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4320" y="4928616"/>
            <a:ext cx="1344168" cy="124358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928616"/>
            <a:ext cx="1344168" cy="1243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645920" y="4928616"/>
            <a:ext cx="3081528" cy="1243584"/>
          </a:xfrm>
          <a:prstGeom prst="rect">
            <a:avLst/>
          </a:prstGeom>
          <a:solidFill>
            <a:srgbClr val="FFF0EF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45920" y="4928616"/>
            <a:ext cx="36576" cy="1243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37360" y="5001768"/>
            <a:ext cx="2944368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 (Specialty BU) operates independently with no automated data feed from UWC; manual data sync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54880" y="4928616"/>
            <a:ext cx="3081528" cy="1243584"/>
          </a:xfrm>
          <a:prstGeom prst="rect">
            <a:avLst/>
          </a:prstGeom>
          <a:solidFill>
            <a:srgbClr val="EDFAF3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0" y="4928616"/>
            <a:ext cx="36576" cy="1243584"/>
          </a:xfrm>
          <a:prstGeom prst="rect">
            <a:avLst/>
          </a:prstGeom>
          <a:solidFill>
            <a:srgbClr val="1B7B4A"/>
          </a:solidFill>
          <a:ln w="12700">
            <a:solidFill>
              <a:srgbClr val="1B7B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5001768"/>
            <a:ext cx="2944368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UWC → ASCO data feed via DataStage + SFTP; ASCO consumes structured UWC data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863840" y="4928616"/>
            <a:ext cx="3081528" cy="1243584"/>
          </a:xfrm>
          <a:prstGeom prst="rect">
            <a:avLst/>
          </a:prstGeom>
          <a:solidFill>
            <a:srgbClr val="FFF8E8"/>
          </a:solidFill>
          <a:ln w="3810">
            <a:solidFill>
              <a:srgbClr val="D0DBE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63840" y="4928616"/>
            <a:ext cx="36576" cy="124358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55280" y="5001768"/>
            <a:ext cx="2944368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6 new ETL jobs (3 at UWC, 3 at ASCO); ASCO currently rated Red – requires careful migration plan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74320" y="6336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AS-IS (Current)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286000" y="6336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TO-BE (Future)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297680" y="63367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Gap &amp; Action Item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61520" cy="3657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"/>
            <a:ext cx="9144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Gaps &amp;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items to address before project can proceed to Development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8426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CONFIDENTIAL – DO NOT COPY  |  Project Marbleshore  | 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795528"/>
            <a:ext cx="11612880" cy="1024128"/>
          </a:xfrm>
          <a:prstGeom prst="rect">
            <a:avLst/>
          </a:prstGeom>
          <a:solidFill>
            <a:srgbClr val="FFFFFF"/>
          </a:solidFill>
          <a:ln w="5080">
            <a:solidFill>
              <a:srgbClr val="D0DB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95528"/>
            <a:ext cx="411480" cy="10241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024128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841248"/>
            <a:ext cx="64008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841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77240" y="1051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Project Timeline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30759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phases are documented but a concrete week-by-week timeline with resource assignments and dependencies is missing.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89320" y="850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Recommendation: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89320" y="106984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detailed project plan covering all 12 weeks. Map specific tasks to resources and dates. Call out milestones: Design Finalized (Wk-2), Complete SIT (Wk-6), Begin UAT (Wk-8), Go-Live (Wk-12).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874520"/>
            <a:ext cx="11612880" cy="1024128"/>
          </a:xfrm>
          <a:prstGeom prst="rect">
            <a:avLst/>
          </a:prstGeom>
          <a:solidFill>
            <a:srgbClr val="EEF3F7"/>
          </a:solidFill>
          <a:ln w="5080">
            <a:solidFill>
              <a:srgbClr val="D0DB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1874520"/>
            <a:ext cx="411480" cy="10241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103120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" y="1920240"/>
            <a:ext cx="64008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19202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7240" y="2130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Technical Design for Data Integration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238658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mapping defines 'what' transforms but the 'how' is missing. No L3 specs exist for UWC-to-ASCO or SRM-to-EDW DataStage jobs.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89320" y="19293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Recommendation: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89320" y="2148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L3 technical design docs: DataStage job names, server paths, enhancement logic (e.g., LEFT JOIN SRM_TRANSACTIONS with SRM_NEW_ATTRIBUTES on transaction_id), target ODS/EDW tables.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953512"/>
            <a:ext cx="11612880" cy="1024128"/>
          </a:xfrm>
          <a:prstGeom prst="rect">
            <a:avLst/>
          </a:prstGeom>
          <a:solidFill>
            <a:srgbClr val="FFFFFF"/>
          </a:solidFill>
          <a:ln w="5080">
            <a:solidFill>
              <a:srgbClr val="D0DB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953512"/>
            <a:ext cx="411480" cy="1024128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3182112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77240" y="2999232"/>
            <a:ext cx="640080" cy="201168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29992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77240" y="32095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&amp; Reprocessing Strategy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346557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defined strategy for handling data feed failures. This is a major operational risk post go-live.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89320" y="300837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Recommendation: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89320" y="322783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failure scenarios (file not received, record count mismatch, data type error). Specify alert content, format, and recipient list. Document step-by-step manual ad-hoc rerun procedure.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4032504"/>
            <a:ext cx="11612880" cy="1024128"/>
          </a:xfrm>
          <a:prstGeom prst="rect">
            <a:avLst/>
          </a:prstGeom>
          <a:solidFill>
            <a:srgbClr val="EEF3F7"/>
          </a:solidFill>
          <a:ln w="5080">
            <a:solidFill>
              <a:srgbClr val="D0DB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032504"/>
            <a:ext cx="411480" cy="1024128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4261104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77240" y="4078224"/>
            <a:ext cx="640080" cy="201168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0782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77240" y="4288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Support Model &amp; Escalation Matrix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" y="454456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defined support model for post-go-live job failures. Primary and secondary support teams not assigned.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989320" y="4087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Recommendation: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989320" y="430682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Define: Primary (L1 Ops) and Secondary (L2 Data Team) support. SLAs: 15 min response for critical failures. Escalation path to Team Lead and Management if SLAs are breached.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5111496"/>
            <a:ext cx="11612880" cy="1024128"/>
          </a:xfrm>
          <a:prstGeom prst="rect">
            <a:avLst/>
          </a:prstGeom>
          <a:solidFill>
            <a:srgbClr val="FFFFFF"/>
          </a:solidFill>
          <a:ln w="5080">
            <a:solidFill>
              <a:srgbClr val="D0DB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5111496"/>
            <a:ext cx="411480" cy="1024128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" y="5340096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77240" y="5157216"/>
            <a:ext cx="640080" cy="201168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1572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77240" y="5367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Matrix – Roles &amp; Responsibilities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" y="56235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RACI matrix assigning ownership across UWC/PCS, SRM, ASCO, and Data/EDW teams. Risk of missed tasks and scope gaps.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989320" y="5166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Recommendation: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989320" y="538581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and get sign-off on the RACI matrix (proposed in Roles &amp; Responsibilities slide) covering all activities from Planning through Hypercare.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Marbleshore Integration Design</dc:title>
  <dc:subject>PptxGenJS Presentation</dc:subject>
  <dc:creator>PptxGenJS</dc:creator>
  <cp:lastModifiedBy>PptxGenJS</cp:lastModifiedBy>
  <cp:revision>1</cp:revision>
  <dcterms:created xsi:type="dcterms:W3CDTF">2026-04-06T12:14:38Z</dcterms:created>
  <dcterms:modified xsi:type="dcterms:W3CDTF">2026-04-06T12:14:38Z</dcterms:modified>
</cp:coreProperties>
</file>